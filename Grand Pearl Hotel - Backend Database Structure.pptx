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embeddedFontLst>
    <p:embeddedFont>
      <p:font typeface="JetBrains Mono Light" panose="020B0604020202020204" charset="0"/>
      <p:regular r:id="rId25"/>
      <p:bold r:id="rId26"/>
      <p:italic r:id="rId27"/>
      <p:boldItalic r:id="rId28"/>
    </p:embeddedFont>
    <p:embeddedFont>
      <p:font typeface="Urbanist" panose="020B0604020202020204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D07E800-FB67-4D71-BC57-009E4F3245E8}">
  <a:tblStyle styleId="{BD07E800-FB67-4D71-BC57-009E4F3245E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" name="Google Shape;42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3" name="Google Shape;45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4425" y="4496544"/>
            <a:ext cx="7372350" cy="581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5775" y="1056382"/>
            <a:ext cx="8572500" cy="4745087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1114425" y="1627882"/>
            <a:ext cx="7740967" cy="201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Grand Pearl Hotel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8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Backend Database Structure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114425" y="3867894"/>
            <a:ext cx="7372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EFF9A"/>
                </a:solidFill>
                <a:latin typeface="JetBrains Mono Light"/>
                <a:ea typeface="JetBrains Mono Light"/>
                <a:cs typeface="JetBrains Mono Light"/>
                <a:sym typeface="JetBrains Mono Light"/>
              </a:rPr>
              <a:t>Detailed Schema Analysis &amp; Entity Relationships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1114425" y="4848969"/>
            <a:ext cx="737235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Target System: SQL Server (T-SQL) | Modules: 7 | Tables: 60+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5775" y="1409700"/>
            <a:ext cx="3549550" cy="127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21075" y="1409700"/>
            <a:ext cx="3549699" cy="127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56525" y="1409700"/>
            <a:ext cx="3549550" cy="127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85775" y="2971800"/>
            <a:ext cx="3549550" cy="104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321075" y="2971800"/>
            <a:ext cx="3549699" cy="104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156525" y="2971800"/>
            <a:ext cx="3549550" cy="1047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733425" y="1657350"/>
            <a:ext cx="3206963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344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Module 1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733425" y="1981200"/>
            <a:ext cx="30542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Guest &amp; Room Management (Reservations, Check-ins)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4568725" y="1657350"/>
            <a:ext cx="320711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77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Module 2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4568725" y="1981200"/>
            <a:ext cx="305439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Restaurant &amp; POS (Orders, KOT, Menu)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8404175" y="1657350"/>
            <a:ext cx="3206963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344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Module 3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8404175" y="1981200"/>
            <a:ext cx="30542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HR &amp; Payroll (Employees, Shifts, Salaries)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733425" y="3219450"/>
            <a:ext cx="3206963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53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Module 4</a:t>
            </a:r>
            <a:endParaRPr dirty="0"/>
          </a:p>
        </p:txBody>
      </p:sp>
      <p:sp>
        <p:nvSpPr>
          <p:cNvPr id="108" name="Google Shape;108;p14"/>
          <p:cNvSpPr txBox="1"/>
          <p:nvPr/>
        </p:nvSpPr>
        <p:spPr>
          <a:xfrm>
            <a:off x="733425" y="3543300"/>
            <a:ext cx="30542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Inventory (Procurement, Stock, Vendors)</a:t>
            </a:r>
            <a:endParaRPr dirty="0"/>
          </a:p>
        </p:txBody>
      </p:sp>
      <p:sp>
        <p:nvSpPr>
          <p:cNvPr id="109" name="Google Shape;109;p14"/>
          <p:cNvSpPr txBox="1"/>
          <p:nvPr/>
        </p:nvSpPr>
        <p:spPr>
          <a:xfrm>
            <a:off x="4568725" y="3219450"/>
            <a:ext cx="320711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53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Module 5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4568725" y="3543300"/>
            <a:ext cx="305439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Facilities (Spa, Gym, Events, Housekeeping)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8404175" y="3219450"/>
            <a:ext cx="3206963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67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Module 6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8404175" y="3543300"/>
            <a:ext cx="30542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Cybersecurity (Audit Logs, RBAC, Encryption)</a:t>
            </a:r>
            <a:endParaRPr/>
          </a:p>
        </p:txBody>
      </p:sp>
      <p:pic>
        <p:nvPicPr>
          <p:cNvPr id="113" name="Google Shape;113;p1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33425" y="1676400"/>
            <a:ext cx="234404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4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568725" y="1676400"/>
            <a:ext cx="167729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4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404175" y="1676400"/>
            <a:ext cx="234404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4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733425" y="3238500"/>
            <a:ext cx="215354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4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4568725" y="3238500"/>
            <a:ext cx="215354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4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8404175" y="3238500"/>
            <a:ext cx="186779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4"/>
          <p:cNvSpPr txBox="1"/>
          <p:nvPr/>
        </p:nvSpPr>
        <p:spPr>
          <a:xfrm>
            <a:off x="485775" y="485775"/>
            <a:ext cx="117062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System Architecture Overview</a:t>
            </a:r>
            <a:endParaRPr/>
          </a:p>
        </p:txBody>
      </p:sp>
      <p:sp>
        <p:nvSpPr>
          <p:cNvPr id="120" name="Google Shape;120;p14"/>
          <p:cNvSpPr/>
          <p:nvPr/>
        </p:nvSpPr>
        <p:spPr>
          <a:xfrm>
            <a:off x="485775" y="1114425"/>
            <a:ext cx="11220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98;p14" descr="image.png">
            <a:extLst>
              <a:ext uri="{FF2B5EF4-FFF2-40B4-BE49-F238E27FC236}">
                <a16:creationId xmlns:a16="http://schemas.microsoft.com/office/drawing/2014/main" id="{AD125864-7FB2-4424-03DB-5990ACDDD692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85775" y="4267200"/>
            <a:ext cx="3549550" cy="104775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A1F7960-CEE8-8B8D-B582-6B98EBFEB8AE}"/>
              </a:ext>
            </a:extLst>
          </p:cNvPr>
          <p:cNvSpPr txBox="1"/>
          <p:nvPr/>
        </p:nvSpPr>
        <p:spPr>
          <a:xfrm>
            <a:off x="891216" y="4431446"/>
            <a:ext cx="60983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Module 7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C4BFB0-B812-EF2C-663A-82C072FFDA15}"/>
              </a:ext>
            </a:extLst>
          </p:cNvPr>
          <p:cNvSpPr txBox="1"/>
          <p:nvPr/>
        </p:nvSpPr>
        <p:spPr>
          <a:xfrm>
            <a:off x="733425" y="4739223"/>
            <a:ext cx="6098344" cy="378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Marketing ( Feedback, Marketing)</a:t>
            </a:r>
            <a:endParaRPr lang="en-US" dirty="0"/>
          </a:p>
        </p:txBody>
      </p:sp>
      <p:pic>
        <p:nvPicPr>
          <p:cNvPr id="8" name="Google Shape;115;p14" descr="image.png">
            <a:extLst>
              <a:ext uri="{FF2B5EF4-FFF2-40B4-BE49-F238E27FC236}">
                <a16:creationId xmlns:a16="http://schemas.microsoft.com/office/drawing/2014/main" id="{060BB6B9-19CA-926B-39C0-7E2FDAF24508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39551" y="4505347"/>
            <a:ext cx="234404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5"/>
          <p:cNvSpPr txBox="1"/>
          <p:nvPr/>
        </p:nvSpPr>
        <p:spPr>
          <a:xfrm>
            <a:off x="771525" y="771525"/>
            <a:ext cx="4790598" cy="1457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Module 1: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1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Guest &amp; Room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1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Management</a:t>
            </a:r>
            <a:endParaRPr/>
          </a:p>
        </p:txBody>
      </p:sp>
      <p:pic>
        <p:nvPicPr>
          <p:cNvPr id="127" name="Google Shape;127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9525"/>
            <a:ext cx="6086475" cy="6838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5"/>
          <p:cNvSpPr txBox="1"/>
          <p:nvPr/>
        </p:nvSpPr>
        <p:spPr>
          <a:xfrm>
            <a:off x="771525" y="2828925"/>
            <a:ext cx="45624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Core Focus:</a:t>
            </a: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Managing the guest lifecycle from booking to checkout.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771525" y="3686175"/>
            <a:ext cx="4562475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Key Relationships:</a:t>
            </a: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One-to-Many link between Guests and Reservations. Many-to-Many link between Rooms and Amenities.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/>
          <p:cNvSpPr/>
          <p:nvPr/>
        </p:nvSpPr>
        <p:spPr>
          <a:xfrm>
            <a:off x="485775" y="1943100"/>
            <a:ext cx="2000250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/>
          <p:nvPr/>
        </p:nvSpPr>
        <p:spPr>
          <a:xfrm>
            <a:off x="2486025" y="1943100"/>
            <a:ext cx="1682948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4168973" y="1943100"/>
            <a:ext cx="2244030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/>
          <p:nvPr/>
        </p:nvSpPr>
        <p:spPr>
          <a:xfrm>
            <a:off x="6413003" y="1943100"/>
            <a:ext cx="5293221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485775" y="2709862"/>
            <a:ext cx="20002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/>
          <p:nvPr/>
        </p:nvSpPr>
        <p:spPr>
          <a:xfrm>
            <a:off x="2486025" y="2709862"/>
            <a:ext cx="1682948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4168973" y="2709862"/>
            <a:ext cx="224403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6413003" y="2709862"/>
            <a:ext cx="5293221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485775" y="3462337"/>
            <a:ext cx="20002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2486025" y="3462337"/>
            <a:ext cx="1682948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4168973" y="3462337"/>
            <a:ext cx="224403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/>
          <p:nvPr/>
        </p:nvSpPr>
        <p:spPr>
          <a:xfrm>
            <a:off x="6413003" y="3462337"/>
            <a:ext cx="5293221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/>
          <p:nvPr/>
        </p:nvSpPr>
        <p:spPr>
          <a:xfrm>
            <a:off x="485775" y="3967162"/>
            <a:ext cx="20002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6"/>
          <p:cNvSpPr/>
          <p:nvPr/>
        </p:nvSpPr>
        <p:spPr>
          <a:xfrm>
            <a:off x="2486025" y="3967162"/>
            <a:ext cx="1682948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4168973" y="3967162"/>
            <a:ext cx="224403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6"/>
          <p:cNvSpPr/>
          <p:nvPr/>
        </p:nvSpPr>
        <p:spPr>
          <a:xfrm>
            <a:off x="6413003" y="3967162"/>
            <a:ext cx="5293221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6"/>
          <p:cNvSpPr txBox="1"/>
          <p:nvPr/>
        </p:nvSpPr>
        <p:spPr>
          <a:xfrm>
            <a:off x="485775" y="485775"/>
            <a:ext cx="117062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Schema: Rooms &amp; Definitions</a:t>
            </a:r>
            <a:endParaRPr/>
          </a:p>
        </p:txBody>
      </p:sp>
      <p:sp>
        <p:nvSpPr>
          <p:cNvPr id="153" name="Google Shape;153;p16"/>
          <p:cNvSpPr/>
          <p:nvPr/>
        </p:nvSpPr>
        <p:spPr>
          <a:xfrm>
            <a:off x="485775" y="1114425"/>
            <a:ext cx="11220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5AE770A-1AB7-5418-6586-2157540873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7355275"/>
              </p:ext>
            </p:extLst>
          </p:nvPr>
        </p:nvGraphicFramePr>
        <p:xfrm>
          <a:off x="485774" y="1123950"/>
          <a:ext cx="11220449" cy="2843212"/>
        </p:xfrm>
        <a:graphic>
          <a:graphicData uri="http://schemas.openxmlformats.org/drawingml/2006/table">
            <a:tbl>
              <a:tblPr/>
              <a:tblGrid>
                <a:gridCol w="3646646">
                  <a:extLst>
                    <a:ext uri="{9D8B030D-6E8A-4147-A177-3AD203B41FA5}">
                      <a16:colId xmlns:a16="http://schemas.microsoft.com/office/drawing/2014/main" val="3967890614"/>
                    </a:ext>
                  </a:extLst>
                </a:gridCol>
                <a:gridCol w="1683067">
                  <a:extLst>
                    <a:ext uri="{9D8B030D-6E8A-4147-A177-3AD203B41FA5}">
                      <a16:colId xmlns:a16="http://schemas.microsoft.com/office/drawing/2014/main" val="984930569"/>
                    </a:ext>
                  </a:extLst>
                </a:gridCol>
                <a:gridCol w="2244090">
                  <a:extLst>
                    <a:ext uri="{9D8B030D-6E8A-4147-A177-3AD203B41FA5}">
                      <a16:colId xmlns:a16="http://schemas.microsoft.com/office/drawing/2014/main" val="2517836480"/>
                    </a:ext>
                  </a:extLst>
                </a:gridCol>
                <a:gridCol w="3646646">
                  <a:extLst>
                    <a:ext uri="{9D8B030D-6E8A-4147-A177-3AD203B41FA5}">
                      <a16:colId xmlns:a16="http://schemas.microsoft.com/office/drawing/2014/main" val="2764969534"/>
                    </a:ext>
                  </a:extLst>
                </a:gridCol>
              </a:tblGrid>
              <a:tr h="48815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solidFill>
                            <a:srgbClr val="DEFF9A"/>
                          </a:solidFill>
                          <a:effectLst/>
                        </a:rPr>
                        <a:t>Table Name</a:t>
                      </a:r>
                    </a:p>
                  </a:txBody>
                  <a:tcPr marL="104791" marR="104791" marT="104791" marB="1047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solidFill>
                            <a:srgbClr val="DEFF9A"/>
                          </a:solidFill>
                          <a:effectLst/>
                        </a:rPr>
                        <a:t>PK</a:t>
                      </a:r>
                    </a:p>
                  </a:txBody>
                  <a:tcPr marL="104791" marR="104791" marT="104791" marB="1047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solidFill>
                            <a:srgbClr val="DEFF9A"/>
                          </a:solidFill>
                          <a:effectLst/>
                        </a:rPr>
                        <a:t>FK Targets</a:t>
                      </a:r>
                    </a:p>
                  </a:txBody>
                  <a:tcPr marL="104791" marR="104791" marT="104791" marB="1047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solidFill>
                            <a:srgbClr val="DEFF9A"/>
                          </a:solidFill>
                          <a:effectLst/>
                        </a:rPr>
                        <a:t>Description</a:t>
                      </a:r>
                    </a:p>
                  </a:txBody>
                  <a:tcPr marL="104791" marR="104791" marT="104791" marB="1047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580451"/>
                  </a:ext>
                </a:extLst>
              </a:tr>
              <a:tr h="6409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CCCCCC"/>
                          </a:solidFill>
                          <a:effectLst/>
                          <a:latin typeface="Courier New" panose="02070309020205020404" pitchFamily="49" charset="0"/>
                        </a:rPr>
                        <a:t>Room_Types</a:t>
                      </a:r>
                      <a:endParaRPr lang="en-US" sz="1000">
                        <a:solidFill>
                          <a:srgbClr val="CCCCCC"/>
                        </a:solidFill>
                        <a:effectLst/>
                      </a:endParaRP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dirty="0" err="1">
                          <a:solidFill>
                            <a:srgbClr val="F472B6"/>
                          </a:solidFill>
                          <a:effectLst/>
                        </a:rPr>
                        <a:t>TypeID</a:t>
                      </a:r>
                      <a:endParaRPr lang="en-US" sz="1000" b="1" dirty="0">
                        <a:solidFill>
                          <a:srgbClr val="F472B6"/>
                        </a:solidFill>
                        <a:effectLst/>
                      </a:endParaRP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1000">
                          <a:solidFill>
                            <a:srgbClr val="CCCCCC"/>
                          </a:solidFill>
                          <a:effectLst/>
                        </a:rPr>
                        <a:t>-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CCCCCC"/>
                          </a:solidFill>
                          <a:effectLst/>
                        </a:rPr>
                        <a:t>Defines class (e.g., Deluxe, Presidential), Base Price, Desc.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633645"/>
                  </a:ext>
                </a:extLst>
              </a:tr>
              <a:tr h="6409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CCCCCC"/>
                          </a:solidFill>
                          <a:effectLst/>
                          <a:latin typeface="Courier New" panose="02070309020205020404" pitchFamily="49" charset="0"/>
                        </a:rPr>
                        <a:t>Rooms</a:t>
                      </a:r>
                      <a:endParaRPr lang="en-US" sz="1000">
                        <a:solidFill>
                          <a:srgbClr val="CCCCCC"/>
                        </a:solidFill>
                        <a:effectLst/>
                      </a:endParaRP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rgbClr val="F472B6"/>
                          </a:solidFill>
                          <a:effectLst/>
                        </a:rPr>
                        <a:t>RoomID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rgbClr val="60A5FA"/>
                          </a:solidFill>
                          <a:effectLst/>
                        </a:rPr>
                        <a:t>TypeID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CCCCCC"/>
                          </a:solidFill>
                          <a:effectLst/>
                        </a:rPr>
                        <a:t>Physical room inventory. Status (Available, Occupied).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4523819"/>
                  </a:ext>
                </a:extLst>
              </a:tr>
              <a:tr h="4322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CCCCCC"/>
                          </a:solidFill>
                          <a:effectLst/>
                          <a:latin typeface="Courier New" panose="02070309020205020404" pitchFamily="49" charset="0"/>
                        </a:rPr>
                        <a:t>Room_Amenities</a:t>
                      </a:r>
                      <a:endParaRPr lang="en-US" sz="1000">
                        <a:solidFill>
                          <a:srgbClr val="CCCCCC"/>
                        </a:solidFill>
                        <a:effectLst/>
                      </a:endParaRP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rgbClr val="F472B6"/>
                          </a:solidFill>
                          <a:effectLst/>
                        </a:rPr>
                        <a:t>AmenityID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1000">
                          <a:solidFill>
                            <a:srgbClr val="CCCCCC"/>
                          </a:solidFill>
                          <a:effectLst/>
                        </a:rPr>
                        <a:t>-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CCCCCC"/>
                          </a:solidFill>
                          <a:effectLst/>
                        </a:rPr>
                        <a:t>List of features (WiFi, Jacuzzi, Sea View).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28194"/>
                  </a:ext>
                </a:extLst>
              </a:tr>
              <a:tr h="6409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CCCCCC"/>
                          </a:solidFill>
                          <a:effectLst/>
                          <a:latin typeface="Courier New" panose="02070309020205020404" pitchFamily="49" charset="0"/>
                        </a:rPr>
                        <a:t>Room_Amenity_Mapping</a:t>
                      </a:r>
                      <a:endParaRPr lang="en-US" sz="1000">
                        <a:solidFill>
                          <a:srgbClr val="CCCCCC"/>
                        </a:solidFill>
                        <a:effectLst/>
                      </a:endParaRP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rgbClr val="F472B6"/>
                          </a:solidFill>
                          <a:effectLst/>
                        </a:rPr>
                        <a:t>Composite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rgbClr val="60A5FA"/>
                          </a:solidFill>
                          <a:effectLst/>
                        </a:rPr>
                        <a:t>RoomID, AmenityID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effectLst/>
                        </a:rPr>
                        <a:t>Junction table linking specific amenities to specific rooms.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682524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/>
          <p:nvPr/>
        </p:nvSpPr>
        <p:spPr>
          <a:xfrm>
            <a:off x="485775" y="1943100"/>
            <a:ext cx="2160686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7"/>
          <p:cNvSpPr/>
          <p:nvPr/>
        </p:nvSpPr>
        <p:spPr>
          <a:xfrm>
            <a:off x="2646461" y="1943100"/>
            <a:ext cx="1699319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7"/>
          <p:cNvSpPr/>
          <p:nvPr/>
        </p:nvSpPr>
        <p:spPr>
          <a:xfrm>
            <a:off x="4345781" y="1943100"/>
            <a:ext cx="2194470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7"/>
          <p:cNvSpPr/>
          <p:nvPr/>
        </p:nvSpPr>
        <p:spPr>
          <a:xfrm>
            <a:off x="6540251" y="1943100"/>
            <a:ext cx="5165973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7"/>
          <p:cNvSpPr/>
          <p:nvPr/>
        </p:nvSpPr>
        <p:spPr>
          <a:xfrm>
            <a:off x="485775" y="2462212"/>
            <a:ext cx="2160686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7"/>
          <p:cNvSpPr/>
          <p:nvPr/>
        </p:nvSpPr>
        <p:spPr>
          <a:xfrm>
            <a:off x="2646461" y="2462212"/>
            <a:ext cx="1699319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7"/>
          <p:cNvSpPr/>
          <p:nvPr/>
        </p:nvSpPr>
        <p:spPr>
          <a:xfrm>
            <a:off x="4345781" y="2462212"/>
            <a:ext cx="219447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7"/>
          <p:cNvSpPr/>
          <p:nvPr/>
        </p:nvSpPr>
        <p:spPr>
          <a:xfrm>
            <a:off x="6540251" y="2462212"/>
            <a:ext cx="5165973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7"/>
          <p:cNvSpPr/>
          <p:nvPr/>
        </p:nvSpPr>
        <p:spPr>
          <a:xfrm>
            <a:off x="485775" y="2967037"/>
            <a:ext cx="2160686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7"/>
          <p:cNvSpPr/>
          <p:nvPr/>
        </p:nvSpPr>
        <p:spPr>
          <a:xfrm>
            <a:off x="2646461" y="2967037"/>
            <a:ext cx="1699319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7"/>
          <p:cNvSpPr/>
          <p:nvPr/>
        </p:nvSpPr>
        <p:spPr>
          <a:xfrm>
            <a:off x="4345781" y="2967037"/>
            <a:ext cx="219447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7"/>
          <p:cNvSpPr/>
          <p:nvPr/>
        </p:nvSpPr>
        <p:spPr>
          <a:xfrm>
            <a:off x="6540251" y="2967037"/>
            <a:ext cx="5165973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7"/>
          <p:cNvSpPr/>
          <p:nvPr/>
        </p:nvSpPr>
        <p:spPr>
          <a:xfrm>
            <a:off x="485775" y="3471862"/>
            <a:ext cx="2160686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7"/>
          <p:cNvSpPr/>
          <p:nvPr/>
        </p:nvSpPr>
        <p:spPr>
          <a:xfrm>
            <a:off x="2646461" y="3471862"/>
            <a:ext cx="1699319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7"/>
          <p:cNvSpPr/>
          <p:nvPr/>
        </p:nvSpPr>
        <p:spPr>
          <a:xfrm>
            <a:off x="4345781" y="3471862"/>
            <a:ext cx="219447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7"/>
          <p:cNvSpPr/>
          <p:nvPr/>
        </p:nvSpPr>
        <p:spPr>
          <a:xfrm>
            <a:off x="6540251" y="3471862"/>
            <a:ext cx="5165973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7"/>
          <p:cNvSpPr/>
          <p:nvPr/>
        </p:nvSpPr>
        <p:spPr>
          <a:xfrm>
            <a:off x="485775" y="3976687"/>
            <a:ext cx="2160686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7"/>
          <p:cNvSpPr/>
          <p:nvPr/>
        </p:nvSpPr>
        <p:spPr>
          <a:xfrm>
            <a:off x="2646461" y="3976687"/>
            <a:ext cx="1699319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7"/>
          <p:cNvSpPr/>
          <p:nvPr/>
        </p:nvSpPr>
        <p:spPr>
          <a:xfrm>
            <a:off x="4345781" y="3976687"/>
            <a:ext cx="219447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7"/>
          <p:cNvSpPr/>
          <p:nvPr/>
        </p:nvSpPr>
        <p:spPr>
          <a:xfrm>
            <a:off x="6540251" y="3976687"/>
            <a:ext cx="5165973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7"/>
          <p:cNvSpPr txBox="1"/>
          <p:nvPr/>
        </p:nvSpPr>
        <p:spPr>
          <a:xfrm>
            <a:off x="485775" y="485775"/>
            <a:ext cx="117062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Schema: Reservations &amp; Guests</a:t>
            </a:r>
            <a:endParaRPr/>
          </a:p>
        </p:txBody>
      </p:sp>
      <p:sp>
        <p:nvSpPr>
          <p:cNvPr id="181" name="Google Shape;181;p17"/>
          <p:cNvSpPr/>
          <p:nvPr/>
        </p:nvSpPr>
        <p:spPr>
          <a:xfrm>
            <a:off x="485775" y="1114425"/>
            <a:ext cx="11220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F806350-0B21-1C76-BC4B-105E5209DD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2308266"/>
              </p:ext>
            </p:extLst>
          </p:nvPr>
        </p:nvGraphicFramePr>
        <p:xfrm>
          <a:off x="485774" y="1123949"/>
          <a:ext cx="11220448" cy="2852739"/>
        </p:xfrm>
        <a:graphic>
          <a:graphicData uri="http://schemas.openxmlformats.org/drawingml/2006/table">
            <a:tbl>
              <a:tblPr/>
              <a:tblGrid>
                <a:gridCol w="2805112">
                  <a:extLst>
                    <a:ext uri="{9D8B030D-6E8A-4147-A177-3AD203B41FA5}">
                      <a16:colId xmlns:a16="http://schemas.microsoft.com/office/drawing/2014/main" val="1646899615"/>
                    </a:ext>
                  </a:extLst>
                </a:gridCol>
                <a:gridCol w="2805112">
                  <a:extLst>
                    <a:ext uri="{9D8B030D-6E8A-4147-A177-3AD203B41FA5}">
                      <a16:colId xmlns:a16="http://schemas.microsoft.com/office/drawing/2014/main" val="3151106961"/>
                    </a:ext>
                  </a:extLst>
                </a:gridCol>
                <a:gridCol w="2805112">
                  <a:extLst>
                    <a:ext uri="{9D8B030D-6E8A-4147-A177-3AD203B41FA5}">
                      <a16:colId xmlns:a16="http://schemas.microsoft.com/office/drawing/2014/main" val="2458542126"/>
                    </a:ext>
                  </a:extLst>
                </a:gridCol>
                <a:gridCol w="2805112">
                  <a:extLst>
                    <a:ext uri="{9D8B030D-6E8A-4147-A177-3AD203B41FA5}">
                      <a16:colId xmlns:a16="http://schemas.microsoft.com/office/drawing/2014/main" val="3658813452"/>
                    </a:ext>
                  </a:extLst>
                </a:gridCol>
              </a:tblGrid>
              <a:tr h="4251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solidFill>
                            <a:srgbClr val="DEFF9A"/>
                          </a:solidFill>
                          <a:effectLst/>
                        </a:rPr>
                        <a:t>Table Name</a:t>
                      </a:r>
                    </a:p>
                  </a:txBody>
                  <a:tcPr marL="104791" marR="104791" marT="104791" marB="1047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solidFill>
                            <a:srgbClr val="DEFF9A"/>
                          </a:solidFill>
                          <a:effectLst/>
                        </a:rPr>
                        <a:t>PK</a:t>
                      </a:r>
                    </a:p>
                  </a:txBody>
                  <a:tcPr marL="104791" marR="104791" marT="104791" marB="1047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solidFill>
                            <a:srgbClr val="DEFF9A"/>
                          </a:solidFill>
                          <a:effectLst/>
                        </a:rPr>
                        <a:t>Foreign Keys</a:t>
                      </a:r>
                    </a:p>
                  </a:txBody>
                  <a:tcPr marL="104791" marR="104791" marT="104791" marB="1047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solidFill>
                            <a:srgbClr val="DEFF9A"/>
                          </a:solidFill>
                          <a:effectLst/>
                        </a:rPr>
                        <a:t>Key Columns</a:t>
                      </a:r>
                    </a:p>
                  </a:txBody>
                  <a:tcPr marL="104791" marR="104791" marT="104791" marB="1047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5695557"/>
                  </a:ext>
                </a:extLst>
              </a:tr>
              <a:tr h="5582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CCCCCC"/>
                          </a:solidFill>
                          <a:effectLst/>
                          <a:latin typeface="Courier New" panose="02070309020205020404" pitchFamily="49" charset="0"/>
                        </a:rPr>
                        <a:t>Guests</a:t>
                      </a:r>
                      <a:endParaRPr lang="en-US" sz="1000">
                        <a:solidFill>
                          <a:srgbClr val="CCCCCC"/>
                        </a:solidFill>
                        <a:effectLst/>
                      </a:endParaRP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rgbClr val="F472B6"/>
                          </a:solidFill>
                          <a:effectLst/>
                        </a:rPr>
                        <a:t>GuestID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1000">
                          <a:solidFill>
                            <a:srgbClr val="CCCCCC"/>
                          </a:solidFill>
                          <a:effectLst/>
                        </a:rPr>
                        <a:t>-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CCCCCC"/>
                          </a:solidFill>
                          <a:effectLst/>
                        </a:rPr>
                        <a:t>FirstName, LastName, Email, Identity_No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4565380"/>
                  </a:ext>
                </a:extLst>
              </a:tr>
              <a:tr h="5582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CCCCCC"/>
                          </a:solidFill>
                          <a:effectLst/>
                          <a:latin typeface="Courier New" panose="02070309020205020404" pitchFamily="49" charset="0"/>
                        </a:rPr>
                        <a:t>Reservations</a:t>
                      </a:r>
                      <a:endParaRPr lang="en-US" sz="1000">
                        <a:solidFill>
                          <a:srgbClr val="CCCCCC"/>
                        </a:solidFill>
                        <a:effectLst/>
                      </a:endParaRP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rgbClr val="F472B6"/>
                          </a:solidFill>
                          <a:effectLst/>
                        </a:rPr>
                        <a:t>ResID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rgbClr val="60A5FA"/>
                          </a:solidFill>
                          <a:effectLst/>
                        </a:rPr>
                        <a:t>GuestID, RoomID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CCCCCC"/>
                          </a:solidFill>
                          <a:effectLst/>
                        </a:rPr>
                        <a:t>CheckInDate, CheckOutDate, Status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8322583"/>
                  </a:ext>
                </a:extLst>
              </a:tr>
              <a:tr h="5582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CCCCCC"/>
                          </a:solidFill>
                          <a:effectLst/>
                          <a:latin typeface="Courier New" panose="02070309020205020404" pitchFamily="49" charset="0"/>
                        </a:rPr>
                        <a:t>CheckIn_Records</a:t>
                      </a:r>
                      <a:endParaRPr lang="en-US" sz="1000">
                        <a:solidFill>
                          <a:srgbClr val="CCCCCC"/>
                        </a:solidFill>
                        <a:effectLst/>
                      </a:endParaRP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rgbClr val="F472B6"/>
                          </a:solidFill>
                          <a:effectLst/>
                        </a:rPr>
                        <a:t>CheckInID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rgbClr val="60A5FA"/>
                          </a:solidFill>
                          <a:effectLst/>
                        </a:rPr>
                        <a:t>ResID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CCCCCC"/>
                          </a:solidFill>
                          <a:effectLst/>
                        </a:rPr>
                        <a:t>ActualCheckIn, KeyCardNo (RFID)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6659929"/>
                  </a:ext>
                </a:extLst>
              </a:tr>
              <a:tr h="3764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CCCCCC"/>
                          </a:solidFill>
                          <a:effectLst/>
                          <a:latin typeface="Courier New" panose="02070309020205020404" pitchFamily="49" charset="0"/>
                        </a:rPr>
                        <a:t>CheckOut_Records</a:t>
                      </a:r>
                      <a:endParaRPr lang="en-US" sz="1000">
                        <a:solidFill>
                          <a:srgbClr val="CCCCCC"/>
                        </a:solidFill>
                        <a:effectLst/>
                      </a:endParaRP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rgbClr val="F472B6"/>
                          </a:solidFill>
                          <a:effectLst/>
                        </a:rPr>
                        <a:t>CheckOutID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rgbClr val="60A5FA"/>
                          </a:solidFill>
                          <a:effectLst/>
                        </a:rPr>
                        <a:t>CheckInID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CCCCCC"/>
                          </a:solidFill>
                          <a:effectLst/>
                        </a:rPr>
                        <a:t>ActualCheckOut, TotalBill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8897523"/>
                  </a:ext>
                </a:extLst>
              </a:tr>
              <a:tr h="3764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CCCCCC"/>
                          </a:solidFill>
                          <a:effectLst/>
                          <a:latin typeface="Courier New" panose="02070309020205020404" pitchFamily="49" charset="0"/>
                        </a:rPr>
                        <a:t>Blacklisted_Guests</a:t>
                      </a:r>
                      <a:endParaRPr lang="en-US" sz="1000">
                        <a:solidFill>
                          <a:srgbClr val="CCCCCC"/>
                        </a:solidFill>
                        <a:effectLst/>
                      </a:endParaRP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rgbClr val="F472B6"/>
                          </a:solidFill>
                          <a:effectLst/>
                        </a:rPr>
                        <a:t>BlacklistID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rgbClr val="60A5FA"/>
                          </a:solidFill>
                          <a:effectLst/>
                        </a:rPr>
                        <a:t>GuestID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effectLst/>
                        </a:rPr>
                        <a:t>Reason (Security Block)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168226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8"/>
          <p:cNvSpPr txBox="1"/>
          <p:nvPr/>
        </p:nvSpPr>
        <p:spPr>
          <a:xfrm>
            <a:off x="771525" y="771525"/>
            <a:ext cx="4790598" cy="971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Module 2: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1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Restaurant &amp; POS</a:t>
            </a:r>
            <a:endParaRPr/>
          </a:p>
        </p:txBody>
      </p:sp>
      <p:pic>
        <p:nvPicPr>
          <p:cNvPr id="188" name="Google Shape;188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9525"/>
            <a:ext cx="6086475" cy="683895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8"/>
          <p:cNvSpPr txBox="1"/>
          <p:nvPr/>
        </p:nvSpPr>
        <p:spPr>
          <a:xfrm>
            <a:off x="771525" y="2343150"/>
            <a:ext cx="45624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Core Focus:</a:t>
            </a: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F&amp;B operations across multiple outlets.</a:t>
            </a:r>
            <a:endParaRPr/>
          </a:p>
        </p:txBody>
      </p:sp>
      <p:sp>
        <p:nvSpPr>
          <p:cNvPr id="190" name="Google Shape;190;p18"/>
          <p:cNvSpPr txBox="1"/>
          <p:nvPr/>
        </p:nvSpPr>
        <p:spPr>
          <a:xfrm>
            <a:off x="771525" y="2943225"/>
            <a:ext cx="45624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Key Relationships:</a:t>
            </a: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Orders link Guests to Tables. Order Details link Orders to Menu Items.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9"/>
          <p:cNvSpPr/>
          <p:nvPr/>
        </p:nvSpPr>
        <p:spPr>
          <a:xfrm>
            <a:off x="485775" y="1943100"/>
            <a:ext cx="2160686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9"/>
          <p:cNvSpPr/>
          <p:nvPr/>
        </p:nvSpPr>
        <p:spPr>
          <a:xfrm>
            <a:off x="2646461" y="1943100"/>
            <a:ext cx="1575494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9"/>
          <p:cNvSpPr/>
          <p:nvPr/>
        </p:nvSpPr>
        <p:spPr>
          <a:xfrm>
            <a:off x="4221956" y="1943100"/>
            <a:ext cx="1823144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9"/>
          <p:cNvSpPr/>
          <p:nvPr/>
        </p:nvSpPr>
        <p:spPr>
          <a:xfrm>
            <a:off x="6045100" y="1943100"/>
            <a:ext cx="5661124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9"/>
          <p:cNvSpPr/>
          <p:nvPr/>
        </p:nvSpPr>
        <p:spPr>
          <a:xfrm>
            <a:off x="485775" y="2462212"/>
            <a:ext cx="2160686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9"/>
          <p:cNvSpPr/>
          <p:nvPr/>
        </p:nvSpPr>
        <p:spPr>
          <a:xfrm>
            <a:off x="2646461" y="2462212"/>
            <a:ext cx="1575494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9"/>
          <p:cNvSpPr/>
          <p:nvPr/>
        </p:nvSpPr>
        <p:spPr>
          <a:xfrm>
            <a:off x="4221956" y="2462212"/>
            <a:ext cx="1823144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9"/>
          <p:cNvSpPr/>
          <p:nvPr/>
        </p:nvSpPr>
        <p:spPr>
          <a:xfrm>
            <a:off x="6045100" y="2462212"/>
            <a:ext cx="5661124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9"/>
          <p:cNvSpPr/>
          <p:nvPr/>
        </p:nvSpPr>
        <p:spPr>
          <a:xfrm>
            <a:off x="485775" y="2967037"/>
            <a:ext cx="2160686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9"/>
          <p:cNvSpPr/>
          <p:nvPr/>
        </p:nvSpPr>
        <p:spPr>
          <a:xfrm>
            <a:off x="2646461" y="2967037"/>
            <a:ext cx="1575494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9"/>
          <p:cNvSpPr/>
          <p:nvPr/>
        </p:nvSpPr>
        <p:spPr>
          <a:xfrm>
            <a:off x="4221956" y="2967037"/>
            <a:ext cx="1823144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9"/>
          <p:cNvSpPr/>
          <p:nvPr/>
        </p:nvSpPr>
        <p:spPr>
          <a:xfrm>
            <a:off x="6045100" y="2967037"/>
            <a:ext cx="5661124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9"/>
          <p:cNvSpPr/>
          <p:nvPr/>
        </p:nvSpPr>
        <p:spPr>
          <a:xfrm>
            <a:off x="485775" y="3471862"/>
            <a:ext cx="2160686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9"/>
          <p:cNvSpPr/>
          <p:nvPr/>
        </p:nvSpPr>
        <p:spPr>
          <a:xfrm>
            <a:off x="2646461" y="3471862"/>
            <a:ext cx="1575494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9"/>
          <p:cNvSpPr/>
          <p:nvPr/>
        </p:nvSpPr>
        <p:spPr>
          <a:xfrm>
            <a:off x="4221956" y="3471862"/>
            <a:ext cx="1823144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9"/>
          <p:cNvSpPr/>
          <p:nvPr/>
        </p:nvSpPr>
        <p:spPr>
          <a:xfrm>
            <a:off x="6045100" y="3471862"/>
            <a:ext cx="5661124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9"/>
          <p:cNvSpPr/>
          <p:nvPr/>
        </p:nvSpPr>
        <p:spPr>
          <a:xfrm>
            <a:off x="485775" y="3976687"/>
            <a:ext cx="2160686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9"/>
          <p:cNvSpPr/>
          <p:nvPr/>
        </p:nvSpPr>
        <p:spPr>
          <a:xfrm>
            <a:off x="2646461" y="3976687"/>
            <a:ext cx="1575494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9"/>
          <p:cNvSpPr/>
          <p:nvPr/>
        </p:nvSpPr>
        <p:spPr>
          <a:xfrm>
            <a:off x="4221956" y="3976687"/>
            <a:ext cx="1823144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9"/>
          <p:cNvSpPr/>
          <p:nvPr/>
        </p:nvSpPr>
        <p:spPr>
          <a:xfrm>
            <a:off x="6045100" y="3976687"/>
            <a:ext cx="5661124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9"/>
          <p:cNvSpPr txBox="1"/>
          <p:nvPr/>
        </p:nvSpPr>
        <p:spPr>
          <a:xfrm>
            <a:off x="485775" y="485775"/>
            <a:ext cx="117062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Schema: Menu &amp; Outlets</a:t>
            </a:r>
            <a:endParaRPr/>
          </a:p>
        </p:txBody>
      </p:sp>
      <p:sp>
        <p:nvSpPr>
          <p:cNvPr id="218" name="Google Shape;218;p19"/>
          <p:cNvSpPr/>
          <p:nvPr/>
        </p:nvSpPr>
        <p:spPr>
          <a:xfrm>
            <a:off x="485775" y="1114425"/>
            <a:ext cx="11220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21E04CB-D1CE-CEFC-B9AE-736FBD968C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5746116"/>
              </p:ext>
            </p:extLst>
          </p:nvPr>
        </p:nvGraphicFramePr>
        <p:xfrm>
          <a:off x="485774" y="1129183"/>
          <a:ext cx="11220448" cy="2847502"/>
        </p:xfrm>
        <a:graphic>
          <a:graphicData uri="http://schemas.openxmlformats.org/drawingml/2006/table">
            <a:tbl>
              <a:tblPr/>
              <a:tblGrid>
                <a:gridCol w="2805112">
                  <a:extLst>
                    <a:ext uri="{9D8B030D-6E8A-4147-A177-3AD203B41FA5}">
                      <a16:colId xmlns:a16="http://schemas.microsoft.com/office/drawing/2014/main" val="2300511538"/>
                    </a:ext>
                  </a:extLst>
                </a:gridCol>
                <a:gridCol w="2805112">
                  <a:extLst>
                    <a:ext uri="{9D8B030D-6E8A-4147-A177-3AD203B41FA5}">
                      <a16:colId xmlns:a16="http://schemas.microsoft.com/office/drawing/2014/main" val="960098602"/>
                    </a:ext>
                  </a:extLst>
                </a:gridCol>
                <a:gridCol w="2805112">
                  <a:extLst>
                    <a:ext uri="{9D8B030D-6E8A-4147-A177-3AD203B41FA5}">
                      <a16:colId xmlns:a16="http://schemas.microsoft.com/office/drawing/2014/main" val="2898479458"/>
                    </a:ext>
                  </a:extLst>
                </a:gridCol>
                <a:gridCol w="2805112">
                  <a:extLst>
                    <a:ext uri="{9D8B030D-6E8A-4147-A177-3AD203B41FA5}">
                      <a16:colId xmlns:a16="http://schemas.microsoft.com/office/drawing/2014/main" val="2984738194"/>
                    </a:ext>
                  </a:extLst>
                </a:gridCol>
              </a:tblGrid>
              <a:tr h="45324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solidFill>
                            <a:srgbClr val="DEFF9A"/>
                          </a:solidFill>
                          <a:effectLst/>
                        </a:rPr>
                        <a:t>Table Name</a:t>
                      </a:r>
                    </a:p>
                  </a:txBody>
                  <a:tcPr marL="104791" marR="104791" marT="104791" marB="1047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solidFill>
                            <a:srgbClr val="DEFF9A"/>
                          </a:solidFill>
                          <a:effectLst/>
                        </a:rPr>
                        <a:t>PK</a:t>
                      </a:r>
                    </a:p>
                  </a:txBody>
                  <a:tcPr marL="104791" marR="104791" marT="104791" marB="1047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solidFill>
                            <a:srgbClr val="DEFF9A"/>
                          </a:solidFill>
                          <a:effectLst/>
                        </a:rPr>
                        <a:t>Foreign Keys</a:t>
                      </a:r>
                    </a:p>
                  </a:txBody>
                  <a:tcPr marL="104791" marR="104791" marT="104791" marB="1047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solidFill>
                            <a:srgbClr val="DEFF9A"/>
                          </a:solidFill>
                          <a:effectLst/>
                        </a:rPr>
                        <a:t>Description</a:t>
                      </a:r>
                    </a:p>
                  </a:txBody>
                  <a:tcPr marL="104791" marR="104791" marT="104791" marB="1047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0764555"/>
                  </a:ext>
                </a:extLst>
              </a:tr>
              <a:tr h="5951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CCCCCC"/>
                          </a:solidFill>
                          <a:effectLst/>
                          <a:latin typeface="Courier New" panose="02070309020205020404" pitchFamily="49" charset="0"/>
                        </a:rPr>
                        <a:t>Restaurant_Outlets</a:t>
                      </a:r>
                      <a:endParaRPr lang="en-US" sz="1000">
                        <a:solidFill>
                          <a:srgbClr val="CCCCCC"/>
                        </a:solidFill>
                        <a:effectLst/>
                      </a:endParaRP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rgbClr val="F472B6"/>
                          </a:solidFill>
                          <a:effectLst/>
                        </a:rPr>
                        <a:t>OutletID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1000">
                          <a:solidFill>
                            <a:srgbClr val="CCCCCC"/>
                          </a:solidFill>
                          <a:effectLst/>
                        </a:rPr>
                        <a:t>-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CCCCCC"/>
                          </a:solidFill>
                          <a:effectLst/>
                        </a:rPr>
                        <a:t>Locations (e.g., Rooftop Bar, Main Dining).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7292566"/>
                  </a:ext>
                </a:extLst>
              </a:tr>
              <a:tr h="5951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CCCCCC"/>
                          </a:solidFill>
                          <a:effectLst/>
                          <a:latin typeface="Courier New" panose="02070309020205020404" pitchFamily="49" charset="0"/>
                        </a:rPr>
                        <a:t>Menu_Categories</a:t>
                      </a:r>
                      <a:endParaRPr lang="en-US" sz="1000">
                        <a:solidFill>
                          <a:srgbClr val="CCCCCC"/>
                        </a:solidFill>
                        <a:effectLst/>
                      </a:endParaRP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rgbClr val="F472B6"/>
                          </a:solidFill>
                          <a:effectLst/>
                        </a:rPr>
                        <a:t>CategoryID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1000">
                          <a:solidFill>
                            <a:srgbClr val="CCCCCC"/>
                          </a:solidFill>
                          <a:effectLst/>
                        </a:rPr>
                        <a:t>-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CCCCCC"/>
                          </a:solidFill>
                          <a:effectLst/>
                        </a:rPr>
                        <a:t>Groups (Starters, Mains, Desserts).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6336799"/>
                  </a:ext>
                </a:extLst>
              </a:tr>
              <a:tr h="4013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CCCCCC"/>
                          </a:solidFill>
                          <a:effectLst/>
                          <a:latin typeface="Courier New" panose="02070309020205020404" pitchFamily="49" charset="0"/>
                        </a:rPr>
                        <a:t>Menu_Items</a:t>
                      </a:r>
                      <a:endParaRPr lang="en-US" sz="1000">
                        <a:solidFill>
                          <a:srgbClr val="CCCCCC"/>
                        </a:solidFill>
                        <a:effectLst/>
                      </a:endParaRP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rgbClr val="F472B6"/>
                          </a:solidFill>
                          <a:effectLst/>
                        </a:rPr>
                        <a:t>ItemID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rgbClr val="60A5FA"/>
                          </a:solidFill>
                          <a:effectLst/>
                        </a:rPr>
                        <a:t>CategoryID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CCCCCC"/>
                          </a:solidFill>
                          <a:effectLst/>
                        </a:rPr>
                        <a:t>ItemName, Price.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614039"/>
                  </a:ext>
                </a:extLst>
              </a:tr>
              <a:tr h="4013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CCCCCC"/>
                          </a:solidFill>
                          <a:effectLst/>
                          <a:latin typeface="Courier New" panose="02070309020205020404" pitchFamily="49" charset="0"/>
                        </a:rPr>
                        <a:t>Menu_Discounts</a:t>
                      </a:r>
                      <a:endParaRPr lang="en-US" sz="1000">
                        <a:solidFill>
                          <a:srgbClr val="CCCCCC"/>
                        </a:solidFill>
                        <a:effectLst/>
                      </a:endParaRP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rgbClr val="F472B6"/>
                          </a:solidFill>
                          <a:effectLst/>
                        </a:rPr>
                        <a:t>DiscountID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rgbClr val="60A5FA"/>
                          </a:solidFill>
                          <a:effectLst/>
                        </a:rPr>
                        <a:t>ItemID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CCCCCC"/>
                          </a:solidFill>
                          <a:effectLst/>
                        </a:rPr>
                        <a:t>Percentage discount logic.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5185955"/>
                  </a:ext>
                </a:extLst>
              </a:tr>
              <a:tr h="4013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CCCCCC"/>
                          </a:solidFill>
                          <a:effectLst/>
                          <a:latin typeface="Courier New" panose="02070309020205020404" pitchFamily="49" charset="0"/>
                        </a:rPr>
                        <a:t>Restaurant_Tables</a:t>
                      </a:r>
                      <a:endParaRPr lang="en-US" sz="1000">
                        <a:solidFill>
                          <a:srgbClr val="CCCCCC"/>
                        </a:solidFill>
                        <a:effectLst/>
                      </a:endParaRP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rgbClr val="F472B6"/>
                          </a:solidFill>
                          <a:effectLst/>
                        </a:rPr>
                        <a:t>TableID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rgbClr val="60A5FA"/>
                          </a:solidFill>
                          <a:effectLst/>
                        </a:rPr>
                        <a:t>OutletID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 err="1">
                          <a:solidFill>
                            <a:srgbClr val="CCCCCC"/>
                          </a:solidFill>
                          <a:effectLst/>
                        </a:rPr>
                        <a:t>TableNo</a:t>
                      </a:r>
                      <a:r>
                        <a:rPr lang="en-US" sz="1000" dirty="0">
                          <a:solidFill>
                            <a:srgbClr val="CCCCCC"/>
                          </a:solidFill>
                          <a:effectLst/>
                        </a:rPr>
                        <a:t>, Capacity.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045204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0"/>
          <p:cNvSpPr/>
          <p:nvPr/>
        </p:nvSpPr>
        <p:spPr>
          <a:xfrm>
            <a:off x="485775" y="1943100"/>
            <a:ext cx="2217539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0"/>
          <p:cNvSpPr/>
          <p:nvPr/>
        </p:nvSpPr>
        <p:spPr>
          <a:xfrm>
            <a:off x="2703314" y="1943100"/>
            <a:ext cx="1301799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0"/>
          <p:cNvSpPr/>
          <p:nvPr/>
        </p:nvSpPr>
        <p:spPr>
          <a:xfrm>
            <a:off x="4005113" y="1943100"/>
            <a:ext cx="2272754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0"/>
          <p:cNvSpPr/>
          <p:nvPr/>
        </p:nvSpPr>
        <p:spPr>
          <a:xfrm>
            <a:off x="6277867" y="1943100"/>
            <a:ext cx="5428357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0"/>
          <p:cNvSpPr/>
          <p:nvPr/>
        </p:nvSpPr>
        <p:spPr>
          <a:xfrm>
            <a:off x="485775" y="2462212"/>
            <a:ext cx="2217539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0"/>
          <p:cNvSpPr/>
          <p:nvPr/>
        </p:nvSpPr>
        <p:spPr>
          <a:xfrm>
            <a:off x="2703314" y="2462212"/>
            <a:ext cx="1301799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0"/>
          <p:cNvSpPr/>
          <p:nvPr/>
        </p:nvSpPr>
        <p:spPr>
          <a:xfrm>
            <a:off x="4005113" y="2462212"/>
            <a:ext cx="2272754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0"/>
          <p:cNvSpPr/>
          <p:nvPr/>
        </p:nvSpPr>
        <p:spPr>
          <a:xfrm>
            <a:off x="6277867" y="2462212"/>
            <a:ext cx="5428357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0"/>
          <p:cNvSpPr/>
          <p:nvPr/>
        </p:nvSpPr>
        <p:spPr>
          <a:xfrm>
            <a:off x="485775" y="2967037"/>
            <a:ext cx="2217539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0"/>
          <p:cNvSpPr/>
          <p:nvPr/>
        </p:nvSpPr>
        <p:spPr>
          <a:xfrm>
            <a:off x="2703314" y="2967037"/>
            <a:ext cx="1301799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0"/>
          <p:cNvSpPr/>
          <p:nvPr/>
        </p:nvSpPr>
        <p:spPr>
          <a:xfrm>
            <a:off x="4005113" y="2967037"/>
            <a:ext cx="2272754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0"/>
          <p:cNvSpPr/>
          <p:nvPr/>
        </p:nvSpPr>
        <p:spPr>
          <a:xfrm>
            <a:off x="6277867" y="2967037"/>
            <a:ext cx="5428357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0"/>
          <p:cNvSpPr/>
          <p:nvPr/>
        </p:nvSpPr>
        <p:spPr>
          <a:xfrm>
            <a:off x="485775" y="3471862"/>
            <a:ext cx="2217539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0"/>
          <p:cNvSpPr/>
          <p:nvPr/>
        </p:nvSpPr>
        <p:spPr>
          <a:xfrm>
            <a:off x="2703314" y="3471862"/>
            <a:ext cx="1301799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0"/>
          <p:cNvSpPr/>
          <p:nvPr/>
        </p:nvSpPr>
        <p:spPr>
          <a:xfrm>
            <a:off x="4005113" y="3471862"/>
            <a:ext cx="2272754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0"/>
          <p:cNvSpPr/>
          <p:nvPr/>
        </p:nvSpPr>
        <p:spPr>
          <a:xfrm>
            <a:off x="6277867" y="3471862"/>
            <a:ext cx="5428357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0"/>
          <p:cNvSpPr txBox="1"/>
          <p:nvPr/>
        </p:nvSpPr>
        <p:spPr>
          <a:xfrm>
            <a:off x="485775" y="485775"/>
            <a:ext cx="117062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Schema: Orders &amp; Transactions</a:t>
            </a:r>
            <a:endParaRPr/>
          </a:p>
        </p:txBody>
      </p:sp>
      <p:sp>
        <p:nvSpPr>
          <p:cNvPr id="242" name="Google Shape;242;p20"/>
          <p:cNvSpPr/>
          <p:nvPr/>
        </p:nvSpPr>
        <p:spPr>
          <a:xfrm>
            <a:off x="485775" y="1114425"/>
            <a:ext cx="11220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5ADA0DD-51A8-7557-BD4B-4F0956801C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2761562"/>
              </p:ext>
            </p:extLst>
          </p:nvPr>
        </p:nvGraphicFramePr>
        <p:xfrm>
          <a:off x="485775" y="1097500"/>
          <a:ext cx="11359224" cy="2374362"/>
        </p:xfrm>
        <a:graphic>
          <a:graphicData uri="http://schemas.openxmlformats.org/drawingml/2006/table">
            <a:tbl>
              <a:tblPr/>
              <a:tblGrid>
                <a:gridCol w="2839806">
                  <a:extLst>
                    <a:ext uri="{9D8B030D-6E8A-4147-A177-3AD203B41FA5}">
                      <a16:colId xmlns:a16="http://schemas.microsoft.com/office/drawing/2014/main" val="2084387150"/>
                    </a:ext>
                  </a:extLst>
                </a:gridCol>
                <a:gridCol w="2839806">
                  <a:extLst>
                    <a:ext uri="{9D8B030D-6E8A-4147-A177-3AD203B41FA5}">
                      <a16:colId xmlns:a16="http://schemas.microsoft.com/office/drawing/2014/main" val="4238973844"/>
                    </a:ext>
                  </a:extLst>
                </a:gridCol>
                <a:gridCol w="2839806">
                  <a:extLst>
                    <a:ext uri="{9D8B030D-6E8A-4147-A177-3AD203B41FA5}">
                      <a16:colId xmlns:a16="http://schemas.microsoft.com/office/drawing/2014/main" val="2063905238"/>
                    </a:ext>
                  </a:extLst>
                </a:gridCol>
                <a:gridCol w="2839806">
                  <a:extLst>
                    <a:ext uri="{9D8B030D-6E8A-4147-A177-3AD203B41FA5}">
                      <a16:colId xmlns:a16="http://schemas.microsoft.com/office/drawing/2014/main" val="616579610"/>
                    </a:ext>
                  </a:extLst>
                </a:gridCol>
              </a:tblGrid>
              <a:tr h="37978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solidFill>
                            <a:srgbClr val="DEFF9A"/>
                          </a:solidFill>
                          <a:effectLst/>
                        </a:rPr>
                        <a:t>Table Name</a:t>
                      </a:r>
                    </a:p>
                  </a:txBody>
                  <a:tcPr marL="104791" marR="104791" marT="104791" marB="1047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solidFill>
                            <a:srgbClr val="DEFF9A"/>
                          </a:solidFill>
                          <a:effectLst/>
                        </a:rPr>
                        <a:t>PK</a:t>
                      </a:r>
                    </a:p>
                  </a:txBody>
                  <a:tcPr marL="104791" marR="104791" marT="104791" marB="1047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solidFill>
                            <a:srgbClr val="DEFF9A"/>
                          </a:solidFill>
                          <a:effectLst/>
                        </a:rPr>
                        <a:t>Foreign Keys</a:t>
                      </a:r>
                    </a:p>
                  </a:txBody>
                  <a:tcPr marL="104791" marR="104791" marT="104791" marB="1047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solidFill>
                            <a:srgbClr val="DEFF9A"/>
                          </a:solidFill>
                          <a:effectLst/>
                        </a:rPr>
                        <a:t>Description</a:t>
                      </a:r>
                    </a:p>
                  </a:txBody>
                  <a:tcPr marL="104791" marR="104791" marT="104791" marB="1047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161750"/>
                  </a:ext>
                </a:extLst>
              </a:tr>
              <a:tr h="4986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CCCCCC"/>
                          </a:solidFill>
                          <a:effectLst/>
                          <a:latin typeface="Courier New" panose="02070309020205020404" pitchFamily="49" charset="0"/>
                        </a:rPr>
                        <a:t>Orders</a:t>
                      </a:r>
                      <a:endParaRPr lang="en-US" sz="1000">
                        <a:solidFill>
                          <a:srgbClr val="CCCCCC"/>
                        </a:solidFill>
                        <a:effectLst/>
                      </a:endParaRP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rgbClr val="F472B6"/>
                          </a:solidFill>
                          <a:effectLst/>
                        </a:rPr>
                        <a:t>OrderID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rgbClr val="60A5FA"/>
                          </a:solidFill>
                          <a:effectLst/>
                        </a:rPr>
                        <a:t>TableID, GuestID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CCCCCC"/>
                          </a:solidFill>
                          <a:effectLst/>
                        </a:rPr>
                        <a:t>Links guest to a table session. OrderTime.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1062864"/>
                  </a:ext>
                </a:extLst>
              </a:tr>
              <a:tr h="4986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CCCCCC"/>
                          </a:solidFill>
                          <a:effectLst/>
                          <a:latin typeface="Courier New" panose="02070309020205020404" pitchFamily="49" charset="0"/>
                        </a:rPr>
                        <a:t>Order_Details</a:t>
                      </a:r>
                      <a:endParaRPr lang="en-US" sz="1000">
                        <a:solidFill>
                          <a:srgbClr val="CCCCCC"/>
                        </a:solidFill>
                        <a:effectLst/>
                      </a:endParaRP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rgbClr val="F472B6"/>
                          </a:solidFill>
                          <a:effectLst/>
                        </a:rPr>
                        <a:t>DetailID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rgbClr val="60A5FA"/>
                          </a:solidFill>
                          <a:effectLst/>
                        </a:rPr>
                        <a:t>OrderID, ItemID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CCCCCC"/>
                          </a:solidFill>
                          <a:effectLst/>
                        </a:rPr>
                        <a:t>Specific items ordered and Quantity.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3996983"/>
                  </a:ext>
                </a:extLst>
              </a:tr>
              <a:tr h="4986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CCCCCC"/>
                          </a:solidFill>
                          <a:effectLst/>
                          <a:latin typeface="Courier New" panose="02070309020205020404" pitchFamily="49" charset="0"/>
                        </a:rPr>
                        <a:t>Kitchen_Tickets</a:t>
                      </a:r>
                      <a:endParaRPr lang="en-US" sz="1000">
                        <a:solidFill>
                          <a:srgbClr val="CCCCCC"/>
                        </a:solidFill>
                        <a:effectLst/>
                      </a:endParaRP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rgbClr val="F472B6"/>
                          </a:solidFill>
                          <a:effectLst/>
                        </a:rPr>
                        <a:t>KOT_ID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rgbClr val="60A5FA"/>
                          </a:solidFill>
                          <a:effectLst/>
                        </a:rPr>
                        <a:t>OrderID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CCCCCC"/>
                          </a:solidFill>
                          <a:effectLst/>
                        </a:rPr>
                        <a:t>Tracks cooking status (Pending/Completed).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0398031"/>
                  </a:ext>
                </a:extLst>
              </a:tr>
              <a:tr h="4986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CCCCCC"/>
                          </a:solidFill>
                          <a:effectLst/>
                          <a:latin typeface="Courier New" panose="02070309020205020404" pitchFamily="49" charset="0"/>
                        </a:rPr>
                        <a:t>Restaurant_Payments</a:t>
                      </a:r>
                      <a:endParaRPr lang="en-US" sz="1000">
                        <a:solidFill>
                          <a:srgbClr val="CCCCCC"/>
                        </a:solidFill>
                        <a:effectLst/>
                      </a:endParaRP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rgbClr val="F472B6"/>
                          </a:solidFill>
                          <a:effectLst/>
                        </a:rPr>
                        <a:t>PayID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rgbClr val="60A5FA"/>
                          </a:solidFill>
                          <a:effectLst/>
                        </a:rPr>
                        <a:t>OrderID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effectLst/>
                        </a:rPr>
                        <a:t>Amount, </a:t>
                      </a:r>
                      <a:r>
                        <a:rPr lang="en-US" sz="1000" dirty="0" err="1">
                          <a:solidFill>
                            <a:srgbClr val="CCCCCC"/>
                          </a:solidFill>
                          <a:effectLst/>
                        </a:rPr>
                        <a:t>PaymentMode</a:t>
                      </a:r>
                      <a:r>
                        <a:rPr lang="en-US" sz="1000" dirty="0">
                          <a:solidFill>
                            <a:srgbClr val="CCCCCC"/>
                          </a:solidFill>
                          <a:effectLst/>
                        </a:rPr>
                        <a:t> (Cash/Card/Room).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788136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1"/>
          <p:cNvSpPr txBox="1"/>
          <p:nvPr/>
        </p:nvSpPr>
        <p:spPr>
          <a:xfrm>
            <a:off x="771525" y="771525"/>
            <a:ext cx="4790598" cy="971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Module 3: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1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HR &amp; Payroll</a:t>
            </a:r>
            <a:endParaRPr/>
          </a:p>
        </p:txBody>
      </p:sp>
      <p:pic>
        <p:nvPicPr>
          <p:cNvPr id="249" name="Google Shape;249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9525"/>
            <a:ext cx="6086475" cy="683895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1"/>
          <p:cNvSpPr txBox="1"/>
          <p:nvPr/>
        </p:nvSpPr>
        <p:spPr>
          <a:xfrm>
            <a:off x="771525" y="2343150"/>
            <a:ext cx="45624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Core Focus:</a:t>
            </a: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Workforce management, attendance, and compensation.</a:t>
            </a:r>
            <a:endParaRPr/>
          </a:p>
        </p:txBody>
      </p:sp>
      <p:sp>
        <p:nvSpPr>
          <p:cNvPr id="251" name="Google Shape;251;p21"/>
          <p:cNvSpPr txBox="1"/>
          <p:nvPr/>
        </p:nvSpPr>
        <p:spPr>
          <a:xfrm>
            <a:off x="771525" y="3200400"/>
            <a:ext cx="45624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Key Relationships:</a:t>
            </a: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Employees belong to Departments and hold Designations.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2"/>
          <p:cNvSpPr/>
          <p:nvPr/>
        </p:nvSpPr>
        <p:spPr>
          <a:xfrm>
            <a:off x="485775" y="1943100"/>
            <a:ext cx="1722387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2"/>
          <p:cNvSpPr/>
          <p:nvPr/>
        </p:nvSpPr>
        <p:spPr>
          <a:xfrm>
            <a:off x="2208162" y="1943100"/>
            <a:ext cx="1316384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2"/>
          <p:cNvSpPr/>
          <p:nvPr/>
        </p:nvSpPr>
        <p:spPr>
          <a:xfrm>
            <a:off x="3524547" y="1943100"/>
            <a:ext cx="2399109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2"/>
          <p:cNvSpPr/>
          <p:nvPr/>
        </p:nvSpPr>
        <p:spPr>
          <a:xfrm>
            <a:off x="5923657" y="1943100"/>
            <a:ext cx="5782567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2"/>
          <p:cNvSpPr/>
          <p:nvPr/>
        </p:nvSpPr>
        <p:spPr>
          <a:xfrm>
            <a:off x="485775" y="2462212"/>
            <a:ext cx="1722387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2"/>
          <p:cNvSpPr/>
          <p:nvPr/>
        </p:nvSpPr>
        <p:spPr>
          <a:xfrm>
            <a:off x="2208162" y="2462212"/>
            <a:ext cx="1316384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2"/>
          <p:cNvSpPr/>
          <p:nvPr/>
        </p:nvSpPr>
        <p:spPr>
          <a:xfrm>
            <a:off x="3524547" y="2462212"/>
            <a:ext cx="2399109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2"/>
          <p:cNvSpPr/>
          <p:nvPr/>
        </p:nvSpPr>
        <p:spPr>
          <a:xfrm>
            <a:off x="5923657" y="2462212"/>
            <a:ext cx="5782567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2"/>
          <p:cNvSpPr/>
          <p:nvPr/>
        </p:nvSpPr>
        <p:spPr>
          <a:xfrm>
            <a:off x="485775" y="2967037"/>
            <a:ext cx="1722387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2"/>
          <p:cNvSpPr/>
          <p:nvPr/>
        </p:nvSpPr>
        <p:spPr>
          <a:xfrm>
            <a:off x="2208162" y="2967037"/>
            <a:ext cx="1316384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2"/>
          <p:cNvSpPr/>
          <p:nvPr/>
        </p:nvSpPr>
        <p:spPr>
          <a:xfrm>
            <a:off x="3524547" y="2967037"/>
            <a:ext cx="2399109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2"/>
          <p:cNvSpPr/>
          <p:nvPr/>
        </p:nvSpPr>
        <p:spPr>
          <a:xfrm>
            <a:off x="5923657" y="2967037"/>
            <a:ext cx="5782567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2"/>
          <p:cNvSpPr/>
          <p:nvPr/>
        </p:nvSpPr>
        <p:spPr>
          <a:xfrm>
            <a:off x="485775" y="3471862"/>
            <a:ext cx="1722387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2"/>
          <p:cNvSpPr/>
          <p:nvPr/>
        </p:nvSpPr>
        <p:spPr>
          <a:xfrm>
            <a:off x="2208162" y="3471862"/>
            <a:ext cx="1316384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2"/>
          <p:cNvSpPr/>
          <p:nvPr/>
        </p:nvSpPr>
        <p:spPr>
          <a:xfrm>
            <a:off x="3524547" y="3471862"/>
            <a:ext cx="2399109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2"/>
          <p:cNvSpPr/>
          <p:nvPr/>
        </p:nvSpPr>
        <p:spPr>
          <a:xfrm>
            <a:off x="5923657" y="3471862"/>
            <a:ext cx="5782567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2"/>
          <p:cNvSpPr txBox="1"/>
          <p:nvPr/>
        </p:nvSpPr>
        <p:spPr>
          <a:xfrm>
            <a:off x="485775" y="485775"/>
            <a:ext cx="117062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Schema: Organizational Structure</a:t>
            </a:r>
            <a:endParaRPr/>
          </a:p>
        </p:txBody>
      </p:sp>
      <p:sp>
        <p:nvSpPr>
          <p:cNvPr id="275" name="Google Shape;275;p22"/>
          <p:cNvSpPr/>
          <p:nvPr/>
        </p:nvSpPr>
        <p:spPr>
          <a:xfrm>
            <a:off x="485775" y="1114425"/>
            <a:ext cx="11220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7545C66-FCCE-3F6C-0239-932C9CE0BA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5745"/>
              </p:ext>
            </p:extLst>
          </p:nvPr>
        </p:nvGraphicFramePr>
        <p:xfrm>
          <a:off x="485774" y="1123950"/>
          <a:ext cx="11220448" cy="2347911"/>
        </p:xfrm>
        <a:graphic>
          <a:graphicData uri="http://schemas.openxmlformats.org/drawingml/2006/table">
            <a:tbl>
              <a:tblPr/>
              <a:tblGrid>
                <a:gridCol w="2805112">
                  <a:extLst>
                    <a:ext uri="{9D8B030D-6E8A-4147-A177-3AD203B41FA5}">
                      <a16:colId xmlns:a16="http://schemas.microsoft.com/office/drawing/2014/main" val="3298073381"/>
                    </a:ext>
                  </a:extLst>
                </a:gridCol>
                <a:gridCol w="2805112">
                  <a:extLst>
                    <a:ext uri="{9D8B030D-6E8A-4147-A177-3AD203B41FA5}">
                      <a16:colId xmlns:a16="http://schemas.microsoft.com/office/drawing/2014/main" val="1504286264"/>
                    </a:ext>
                  </a:extLst>
                </a:gridCol>
                <a:gridCol w="2805112">
                  <a:extLst>
                    <a:ext uri="{9D8B030D-6E8A-4147-A177-3AD203B41FA5}">
                      <a16:colId xmlns:a16="http://schemas.microsoft.com/office/drawing/2014/main" val="3297407370"/>
                    </a:ext>
                  </a:extLst>
                </a:gridCol>
                <a:gridCol w="2805112">
                  <a:extLst>
                    <a:ext uri="{9D8B030D-6E8A-4147-A177-3AD203B41FA5}">
                      <a16:colId xmlns:a16="http://schemas.microsoft.com/office/drawing/2014/main" val="3023585201"/>
                    </a:ext>
                  </a:extLst>
                </a:gridCol>
              </a:tblGrid>
              <a:tr h="37555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solidFill>
                            <a:srgbClr val="DEFF9A"/>
                          </a:solidFill>
                          <a:effectLst/>
                        </a:rPr>
                        <a:t>Table Name</a:t>
                      </a:r>
                    </a:p>
                  </a:txBody>
                  <a:tcPr marL="104791" marR="104791" marT="104791" marB="1047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solidFill>
                            <a:srgbClr val="DEFF9A"/>
                          </a:solidFill>
                          <a:effectLst/>
                        </a:rPr>
                        <a:t>PK</a:t>
                      </a:r>
                    </a:p>
                  </a:txBody>
                  <a:tcPr marL="104791" marR="104791" marT="104791" marB="1047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solidFill>
                            <a:srgbClr val="DEFF9A"/>
                          </a:solidFill>
                          <a:effectLst/>
                        </a:rPr>
                        <a:t>Foreign Keys</a:t>
                      </a:r>
                    </a:p>
                  </a:txBody>
                  <a:tcPr marL="104791" marR="104791" marT="104791" marB="1047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solidFill>
                            <a:srgbClr val="DEFF9A"/>
                          </a:solidFill>
                          <a:effectLst/>
                        </a:rPr>
                        <a:t>Description</a:t>
                      </a:r>
                    </a:p>
                  </a:txBody>
                  <a:tcPr marL="104791" marR="104791" marT="104791" marB="1047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782225"/>
                  </a:ext>
                </a:extLst>
              </a:tr>
              <a:tr h="4930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CCCCCC"/>
                          </a:solidFill>
                          <a:effectLst/>
                          <a:latin typeface="Courier New" panose="02070309020205020404" pitchFamily="49" charset="0"/>
                        </a:rPr>
                        <a:t>Departments</a:t>
                      </a:r>
                      <a:endParaRPr lang="en-US" sz="1000">
                        <a:solidFill>
                          <a:srgbClr val="CCCCCC"/>
                        </a:solidFill>
                        <a:effectLst/>
                      </a:endParaRP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rgbClr val="F472B6"/>
                          </a:solidFill>
                          <a:effectLst/>
                        </a:rPr>
                        <a:t>DeptID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1000">
                          <a:solidFill>
                            <a:srgbClr val="CCCCCC"/>
                          </a:solidFill>
                          <a:effectLst/>
                        </a:rPr>
                        <a:t>-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CCCCCC"/>
                          </a:solidFill>
                          <a:effectLst/>
                        </a:rPr>
                        <a:t>Operational units (IT, Kitchen, HR).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5197043"/>
                  </a:ext>
                </a:extLst>
              </a:tr>
              <a:tr h="4930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CCCCCC"/>
                          </a:solidFill>
                          <a:effectLst/>
                          <a:latin typeface="Courier New" panose="02070309020205020404" pitchFamily="49" charset="0"/>
                        </a:rPr>
                        <a:t>Designations</a:t>
                      </a:r>
                      <a:endParaRPr lang="en-US" sz="1000">
                        <a:solidFill>
                          <a:srgbClr val="CCCCCC"/>
                        </a:solidFill>
                        <a:effectLst/>
                      </a:endParaRP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rgbClr val="F472B6"/>
                          </a:solidFill>
                          <a:effectLst/>
                        </a:rPr>
                        <a:t>DesigID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1000">
                          <a:solidFill>
                            <a:srgbClr val="CCCCCC"/>
                          </a:solidFill>
                          <a:effectLst/>
                        </a:rPr>
                        <a:t>-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CCCCCC"/>
                          </a:solidFill>
                          <a:effectLst/>
                        </a:rPr>
                        <a:t>Job Titles (Manager, Chef, Janitor).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5786372"/>
                  </a:ext>
                </a:extLst>
              </a:tr>
              <a:tr h="4930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CCCCCC"/>
                          </a:solidFill>
                          <a:effectLst/>
                          <a:latin typeface="Courier New" panose="02070309020205020404" pitchFamily="49" charset="0"/>
                        </a:rPr>
                        <a:t>Employees</a:t>
                      </a:r>
                      <a:endParaRPr lang="en-US" sz="1000">
                        <a:solidFill>
                          <a:srgbClr val="CCCCCC"/>
                        </a:solidFill>
                        <a:effectLst/>
                      </a:endParaRP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rgbClr val="F472B6"/>
                          </a:solidFill>
                          <a:effectLst/>
                        </a:rPr>
                        <a:t>EmpID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rgbClr val="60A5FA"/>
                          </a:solidFill>
                          <a:effectLst/>
                        </a:rPr>
                        <a:t>DeptID, DesigID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CCCCCC"/>
                          </a:solidFill>
                          <a:effectLst/>
                        </a:rPr>
                        <a:t>Core staff record. Salary, FullName.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2290445"/>
                  </a:ext>
                </a:extLst>
              </a:tr>
              <a:tr h="4930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CCCCCC"/>
                          </a:solidFill>
                          <a:effectLst/>
                          <a:latin typeface="Courier New" panose="02070309020205020404" pitchFamily="49" charset="0"/>
                        </a:rPr>
                        <a:t>Shifts</a:t>
                      </a:r>
                      <a:endParaRPr lang="en-US" sz="1000">
                        <a:solidFill>
                          <a:srgbClr val="CCCCCC"/>
                        </a:solidFill>
                        <a:effectLst/>
                      </a:endParaRP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rgbClr val="F472B6"/>
                          </a:solidFill>
                          <a:effectLst/>
                        </a:rPr>
                        <a:t>ShiftID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1000">
                          <a:solidFill>
                            <a:srgbClr val="CCCCCC"/>
                          </a:solidFill>
                          <a:effectLst/>
                        </a:rPr>
                        <a:t>-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effectLst/>
                        </a:rPr>
                        <a:t>Time definitions (Morning, Night Audit).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921755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" name="Google Shape;280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3"/>
          <p:cNvSpPr/>
          <p:nvPr/>
        </p:nvSpPr>
        <p:spPr>
          <a:xfrm>
            <a:off x="485775" y="1943100"/>
            <a:ext cx="2369939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3"/>
          <p:cNvSpPr/>
          <p:nvPr/>
        </p:nvSpPr>
        <p:spPr>
          <a:xfrm>
            <a:off x="2855714" y="1943100"/>
            <a:ext cx="1320700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3"/>
          <p:cNvSpPr/>
          <p:nvPr/>
        </p:nvSpPr>
        <p:spPr>
          <a:xfrm>
            <a:off x="4176414" y="1943100"/>
            <a:ext cx="1999654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3"/>
          <p:cNvSpPr/>
          <p:nvPr/>
        </p:nvSpPr>
        <p:spPr>
          <a:xfrm>
            <a:off x="6176069" y="1943100"/>
            <a:ext cx="5530155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3"/>
          <p:cNvSpPr/>
          <p:nvPr/>
        </p:nvSpPr>
        <p:spPr>
          <a:xfrm>
            <a:off x="485775" y="2462212"/>
            <a:ext cx="2369939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3"/>
          <p:cNvSpPr/>
          <p:nvPr/>
        </p:nvSpPr>
        <p:spPr>
          <a:xfrm>
            <a:off x="2855714" y="2462212"/>
            <a:ext cx="132070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3"/>
          <p:cNvSpPr/>
          <p:nvPr/>
        </p:nvSpPr>
        <p:spPr>
          <a:xfrm>
            <a:off x="4176414" y="2462212"/>
            <a:ext cx="1999654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3"/>
          <p:cNvSpPr/>
          <p:nvPr/>
        </p:nvSpPr>
        <p:spPr>
          <a:xfrm>
            <a:off x="6176069" y="2462212"/>
            <a:ext cx="5530155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3"/>
          <p:cNvSpPr/>
          <p:nvPr/>
        </p:nvSpPr>
        <p:spPr>
          <a:xfrm>
            <a:off x="485775" y="2967037"/>
            <a:ext cx="2369939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3"/>
          <p:cNvSpPr/>
          <p:nvPr/>
        </p:nvSpPr>
        <p:spPr>
          <a:xfrm>
            <a:off x="2855714" y="2967037"/>
            <a:ext cx="132070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3"/>
          <p:cNvSpPr/>
          <p:nvPr/>
        </p:nvSpPr>
        <p:spPr>
          <a:xfrm>
            <a:off x="4176414" y="2967037"/>
            <a:ext cx="1999654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3"/>
          <p:cNvSpPr/>
          <p:nvPr/>
        </p:nvSpPr>
        <p:spPr>
          <a:xfrm>
            <a:off x="6176069" y="2967037"/>
            <a:ext cx="5530155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3"/>
          <p:cNvSpPr/>
          <p:nvPr/>
        </p:nvSpPr>
        <p:spPr>
          <a:xfrm>
            <a:off x="485775" y="3471862"/>
            <a:ext cx="2369939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3"/>
          <p:cNvSpPr/>
          <p:nvPr/>
        </p:nvSpPr>
        <p:spPr>
          <a:xfrm>
            <a:off x="2855714" y="3471862"/>
            <a:ext cx="132070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3"/>
          <p:cNvSpPr/>
          <p:nvPr/>
        </p:nvSpPr>
        <p:spPr>
          <a:xfrm>
            <a:off x="4176414" y="3471862"/>
            <a:ext cx="1999654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3"/>
          <p:cNvSpPr/>
          <p:nvPr/>
        </p:nvSpPr>
        <p:spPr>
          <a:xfrm>
            <a:off x="6176069" y="3471862"/>
            <a:ext cx="5530155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3"/>
          <p:cNvSpPr txBox="1"/>
          <p:nvPr/>
        </p:nvSpPr>
        <p:spPr>
          <a:xfrm>
            <a:off x="485775" y="485775"/>
            <a:ext cx="117062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Schema: Attendance &amp; Payroll</a:t>
            </a:r>
            <a:endParaRPr/>
          </a:p>
        </p:txBody>
      </p:sp>
      <p:sp>
        <p:nvSpPr>
          <p:cNvPr id="299" name="Google Shape;299;p23"/>
          <p:cNvSpPr/>
          <p:nvPr/>
        </p:nvSpPr>
        <p:spPr>
          <a:xfrm>
            <a:off x="485775" y="1114425"/>
            <a:ext cx="11220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8178455-A154-FACC-39BC-1FEB6F4153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2071106"/>
              </p:ext>
            </p:extLst>
          </p:nvPr>
        </p:nvGraphicFramePr>
        <p:xfrm>
          <a:off x="485774" y="1108636"/>
          <a:ext cx="11220448" cy="2363225"/>
        </p:xfrm>
        <a:graphic>
          <a:graphicData uri="http://schemas.openxmlformats.org/drawingml/2006/table">
            <a:tbl>
              <a:tblPr/>
              <a:tblGrid>
                <a:gridCol w="2805112">
                  <a:extLst>
                    <a:ext uri="{9D8B030D-6E8A-4147-A177-3AD203B41FA5}">
                      <a16:colId xmlns:a16="http://schemas.microsoft.com/office/drawing/2014/main" val="1459846155"/>
                    </a:ext>
                  </a:extLst>
                </a:gridCol>
                <a:gridCol w="2805112">
                  <a:extLst>
                    <a:ext uri="{9D8B030D-6E8A-4147-A177-3AD203B41FA5}">
                      <a16:colId xmlns:a16="http://schemas.microsoft.com/office/drawing/2014/main" val="2372334936"/>
                    </a:ext>
                  </a:extLst>
                </a:gridCol>
                <a:gridCol w="2805112">
                  <a:extLst>
                    <a:ext uri="{9D8B030D-6E8A-4147-A177-3AD203B41FA5}">
                      <a16:colId xmlns:a16="http://schemas.microsoft.com/office/drawing/2014/main" val="1308435722"/>
                    </a:ext>
                  </a:extLst>
                </a:gridCol>
                <a:gridCol w="2805112">
                  <a:extLst>
                    <a:ext uri="{9D8B030D-6E8A-4147-A177-3AD203B41FA5}">
                      <a16:colId xmlns:a16="http://schemas.microsoft.com/office/drawing/2014/main" val="499027642"/>
                    </a:ext>
                  </a:extLst>
                </a:gridCol>
              </a:tblGrid>
              <a:tr h="47554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solidFill>
                            <a:srgbClr val="DEFF9A"/>
                          </a:solidFill>
                          <a:effectLst/>
                        </a:rPr>
                        <a:t>Table Name</a:t>
                      </a:r>
                    </a:p>
                  </a:txBody>
                  <a:tcPr marL="104791" marR="104791" marT="104791" marB="1047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solidFill>
                            <a:srgbClr val="DEFF9A"/>
                          </a:solidFill>
                          <a:effectLst/>
                        </a:rPr>
                        <a:t>PK</a:t>
                      </a:r>
                    </a:p>
                  </a:txBody>
                  <a:tcPr marL="104791" marR="104791" marT="104791" marB="1047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solidFill>
                            <a:srgbClr val="DEFF9A"/>
                          </a:solidFill>
                          <a:effectLst/>
                        </a:rPr>
                        <a:t>Foreign Keys</a:t>
                      </a:r>
                    </a:p>
                  </a:txBody>
                  <a:tcPr marL="104791" marR="104791" marT="104791" marB="1047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solidFill>
                            <a:srgbClr val="DEFF9A"/>
                          </a:solidFill>
                          <a:effectLst/>
                        </a:rPr>
                        <a:t>Key Columns</a:t>
                      </a:r>
                    </a:p>
                  </a:txBody>
                  <a:tcPr marL="104791" marR="104791" marT="104791" marB="1047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1099677"/>
                  </a:ext>
                </a:extLst>
              </a:tr>
              <a:tr h="4210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CCCCCC"/>
                          </a:solidFill>
                          <a:effectLst/>
                          <a:latin typeface="Courier New" panose="02070309020205020404" pitchFamily="49" charset="0"/>
                        </a:rPr>
                        <a:t>Attendance</a:t>
                      </a:r>
                      <a:endParaRPr lang="en-US" sz="1000">
                        <a:solidFill>
                          <a:srgbClr val="CCCCCC"/>
                        </a:solidFill>
                        <a:effectLst/>
                      </a:endParaRP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rgbClr val="F472B6"/>
                          </a:solidFill>
                          <a:effectLst/>
                        </a:rPr>
                        <a:t>AttID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rgbClr val="60A5FA"/>
                          </a:solidFill>
                          <a:effectLst/>
                        </a:rPr>
                        <a:t>EmpID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CCCCCC"/>
                          </a:solidFill>
                          <a:effectLst/>
                        </a:rPr>
                        <a:t>Date, Status (Present/Absent).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4818409"/>
                  </a:ext>
                </a:extLst>
              </a:tr>
              <a:tr h="4210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CCCCCC"/>
                          </a:solidFill>
                          <a:effectLst/>
                          <a:latin typeface="Courier New" panose="02070309020205020404" pitchFamily="49" charset="0"/>
                        </a:rPr>
                        <a:t>Salary_Slips</a:t>
                      </a:r>
                      <a:endParaRPr lang="en-US" sz="1000">
                        <a:solidFill>
                          <a:srgbClr val="CCCCCC"/>
                        </a:solidFill>
                        <a:effectLst/>
                      </a:endParaRP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rgbClr val="F472B6"/>
                          </a:solidFill>
                          <a:effectLst/>
                        </a:rPr>
                        <a:t>SlipID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rgbClr val="60A5FA"/>
                          </a:solidFill>
                          <a:effectLst/>
                        </a:rPr>
                        <a:t>EmpID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CCCCCC"/>
                          </a:solidFill>
                          <a:effectLst/>
                        </a:rPr>
                        <a:t>Month, NetPay (Calculated).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1683586"/>
                  </a:ext>
                </a:extLst>
              </a:tr>
              <a:tr h="6243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CCCCCC"/>
                          </a:solidFill>
                          <a:effectLst/>
                          <a:latin typeface="Courier New" panose="02070309020205020404" pitchFamily="49" charset="0"/>
                        </a:rPr>
                        <a:t>Leave_Records</a:t>
                      </a:r>
                      <a:endParaRPr lang="en-US" sz="1000">
                        <a:solidFill>
                          <a:srgbClr val="CCCCCC"/>
                        </a:solidFill>
                        <a:effectLst/>
                      </a:endParaRP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rgbClr val="F472B6"/>
                          </a:solidFill>
                          <a:effectLst/>
                        </a:rPr>
                        <a:t>LeaveID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rgbClr val="60A5FA"/>
                          </a:solidFill>
                          <a:effectLst/>
                        </a:rPr>
                        <a:t>EmpID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CCCCCC"/>
                          </a:solidFill>
                          <a:effectLst/>
                        </a:rPr>
                        <a:t>LeaveType, Status (Approved/Rejected).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4567638"/>
                  </a:ext>
                </a:extLst>
              </a:tr>
              <a:tr h="4210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CCCCCC"/>
                          </a:solidFill>
                          <a:effectLst/>
                          <a:latin typeface="Courier New" panose="02070309020205020404" pitchFamily="49" charset="0"/>
                        </a:rPr>
                        <a:t>Employee_Documents</a:t>
                      </a:r>
                      <a:endParaRPr lang="en-US" sz="1000">
                        <a:solidFill>
                          <a:srgbClr val="CCCCCC"/>
                        </a:solidFill>
                        <a:effectLst/>
                      </a:endParaRP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rgbClr val="F472B6"/>
                          </a:solidFill>
                          <a:effectLst/>
                        </a:rPr>
                        <a:t>DocID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rgbClr val="60A5FA"/>
                          </a:solidFill>
                          <a:effectLst/>
                        </a:rPr>
                        <a:t>EmpID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 err="1">
                          <a:solidFill>
                            <a:srgbClr val="CCCCCC"/>
                          </a:solidFill>
                          <a:effectLst/>
                        </a:rPr>
                        <a:t>DocType</a:t>
                      </a:r>
                      <a:r>
                        <a:rPr lang="en-US" sz="1000" dirty="0">
                          <a:solidFill>
                            <a:srgbClr val="CCCCCC"/>
                          </a:solidFill>
                          <a:effectLst/>
                        </a:rPr>
                        <a:t> (Passport/CNIC).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84009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Google Shape;304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24"/>
          <p:cNvSpPr txBox="1"/>
          <p:nvPr/>
        </p:nvSpPr>
        <p:spPr>
          <a:xfrm>
            <a:off x="771525" y="771525"/>
            <a:ext cx="4790598" cy="971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Module 4: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1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Inventory</a:t>
            </a:r>
            <a:endParaRPr/>
          </a:p>
        </p:txBody>
      </p:sp>
      <p:pic>
        <p:nvPicPr>
          <p:cNvPr id="306" name="Google Shape;306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9525"/>
            <a:ext cx="6086475" cy="683895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4"/>
          <p:cNvSpPr txBox="1"/>
          <p:nvPr/>
        </p:nvSpPr>
        <p:spPr>
          <a:xfrm>
            <a:off x="771525" y="2343150"/>
            <a:ext cx="45624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Core Focus:</a:t>
            </a: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Procurement chain and stock level monitoring.</a:t>
            </a:r>
            <a:endParaRPr/>
          </a:p>
        </p:txBody>
      </p:sp>
      <p:sp>
        <p:nvSpPr>
          <p:cNvPr id="308" name="Google Shape;308;p24"/>
          <p:cNvSpPr txBox="1"/>
          <p:nvPr/>
        </p:nvSpPr>
        <p:spPr>
          <a:xfrm>
            <a:off x="771525" y="2943225"/>
            <a:ext cx="45624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Key Relationships:</a:t>
            </a: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Purchase Orders linked to Vendors. Inventory linked to Stock Items.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" name="Google Shape;313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25"/>
          <p:cNvSpPr/>
          <p:nvPr/>
        </p:nvSpPr>
        <p:spPr>
          <a:xfrm>
            <a:off x="485775" y="1943100"/>
            <a:ext cx="2175123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5"/>
          <p:cNvSpPr/>
          <p:nvPr/>
        </p:nvSpPr>
        <p:spPr>
          <a:xfrm>
            <a:off x="2660898" y="1943100"/>
            <a:ext cx="1402556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5"/>
          <p:cNvSpPr/>
          <p:nvPr/>
        </p:nvSpPr>
        <p:spPr>
          <a:xfrm>
            <a:off x="4063454" y="1943100"/>
            <a:ext cx="2317700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5"/>
          <p:cNvSpPr/>
          <p:nvPr/>
        </p:nvSpPr>
        <p:spPr>
          <a:xfrm>
            <a:off x="6381154" y="1943100"/>
            <a:ext cx="5325070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5"/>
          <p:cNvSpPr/>
          <p:nvPr/>
        </p:nvSpPr>
        <p:spPr>
          <a:xfrm>
            <a:off x="485775" y="2462212"/>
            <a:ext cx="2175123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5"/>
          <p:cNvSpPr/>
          <p:nvPr/>
        </p:nvSpPr>
        <p:spPr>
          <a:xfrm>
            <a:off x="2660898" y="2462212"/>
            <a:ext cx="1402556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5"/>
          <p:cNvSpPr/>
          <p:nvPr/>
        </p:nvSpPr>
        <p:spPr>
          <a:xfrm>
            <a:off x="4063454" y="2462212"/>
            <a:ext cx="231770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5"/>
          <p:cNvSpPr/>
          <p:nvPr/>
        </p:nvSpPr>
        <p:spPr>
          <a:xfrm>
            <a:off x="6381154" y="2462212"/>
            <a:ext cx="532507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5"/>
          <p:cNvSpPr/>
          <p:nvPr/>
        </p:nvSpPr>
        <p:spPr>
          <a:xfrm>
            <a:off x="485775" y="2967037"/>
            <a:ext cx="2175123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5"/>
          <p:cNvSpPr/>
          <p:nvPr/>
        </p:nvSpPr>
        <p:spPr>
          <a:xfrm>
            <a:off x="2660898" y="2967037"/>
            <a:ext cx="1402556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5"/>
          <p:cNvSpPr/>
          <p:nvPr/>
        </p:nvSpPr>
        <p:spPr>
          <a:xfrm>
            <a:off x="4063454" y="2967037"/>
            <a:ext cx="231770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5"/>
          <p:cNvSpPr/>
          <p:nvPr/>
        </p:nvSpPr>
        <p:spPr>
          <a:xfrm>
            <a:off x="6381154" y="2967037"/>
            <a:ext cx="532507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5"/>
          <p:cNvSpPr/>
          <p:nvPr/>
        </p:nvSpPr>
        <p:spPr>
          <a:xfrm>
            <a:off x="485775" y="3471862"/>
            <a:ext cx="2175123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5"/>
          <p:cNvSpPr/>
          <p:nvPr/>
        </p:nvSpPr>
        <p:spPr>
          <a:xfrm>
            <a:off x="2660898" y="3471862"/>
            <a:ext cx="1402556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5"/>
          <p:cNvSpPr/>
          <p:nvPr/>
        </p:nvSpPr>
        <p:spPr>
          <a:xfrm>
            <a:off x="4063454" y="3471862"/>
            <a:ext cx="231770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5"/>
          <p:cNvSpPr/>
          <p:nvPr/>
        </p:nvSpPr>
        <p:spPr>
          <a:xfrm>
            <a:off x="6381154" y="3471862"/>
            <a:ext cx="532507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5"/>
          <p:cNvSpPr txBox="1"/>
          <p:nvPr/>
        </p:nvSpPr>
        <p:spPr>
          <a:xfrm>
            <a:off x="485775" y="485775"/>
            <a:ext cx="117062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Schema: Stock Definitions</a:t>
            </a:r>
            <a:endParaRPr/>
          </a:p>
        </p:txBody>
      </p:sp>
      <p:sp>
        <p:nvSpPr>
          <p:cNvPr id="332" name="Google Shape;332;p25"/>
          <p:cNvSpPr/>
          <p:nvPr/>
        </p:nvSpPr>
        <p:spPr>
          <a:xfrm>
            <a:off x="485775" y="1114425"/>
            <a:ext cx="11220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A2BD6C2-40D7-CE38-63B2-4BC19D4D55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0893845"/>
              </p:ext>
            </p:extLst>
          </p:nvPr>
        </p:nvGraphicFramePr>
        <p:xfrm>
          <a:off x="485774" y="1123950"/>
          <a:ext cx="11220448" cy="2347912"/>
        </p:xfrm>
        <a:graphic>
          <a:graphicData uri="http://schemas.openxmlformats.org/drawingml/2006/table">
            <a:tbl>
              <a:tblPr/>
              <a:tblGrid>
                <a:gridCol w="2805112">
                  <a:extLst>
                    <a:ext uri="{9D8B030D-6E8A-4147-A177-3AD203B41FA5}">
                      <a16:colId xmlns:a16="http://schemas.microsoft.com/office/drawing/2014/main" val="4097280890"/>
                    </a:ext>
                  </a:extLst>
                </a:gridCol>
                <a:gridCol w="2805112">
                  <a:extLst>
                    <a:ext uri="{9D8B030D-6E8A-4147-A177-3AD203B41FA5}">
                      <a16:colId xmlns:a16="http://schemas.microsoft.com/office/drawing/2014/main" val="2220818383"/>
                    </a:ext>
                  </a:extLst>
                </a:gridCol>
                <a:gridCol w="2805112">
                  <a:extLst>
                    <a:ext uri="{9D8B030D-6E8A-4147-A177-3AD203B41FA5}">
                      <a16:colId xmlns:a16="http://schemas.microsoft.com/office/drawing/2014/main" val="314206465"/>
                    </a:ext>
                  </a:extLst>
                </a:gridCol>
                <a:gridCol w="2805112">
                  <a:extLst>
                    <a:ext uri="{9D8B030D-6E8A-4147-A177-3AD203B41FA5}">
                      <a16:colId xmlns:a16="http://schemas.microsoft.com/office/drawing/2014/main" val="303026210"/>
                    </a:ext>
                  </a:extLst>
                </a:gridCol>
              </a:tblGrid>
              <a:tr h="43504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solidFill>
                            <a:srgbClr val="DEFF9A"/>
                          </a:solidFill>
                          <a:effectLst/>
                        </a:rPr>
                        <a:t>Table Name</a:t>
                      </a:r>
                    </a:p>
                  </a:txBody>
                  <a:tcPr marL="104791" marR="104791" marT="104791" marB="1047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solidFill>
                            <a:srgbClr val="DEFF9A"/>
                          </a:solidFill>
                          <a:effectLst/>
                        </a:rPr>
                        <a:t>PK</a:t>
                      </a:r>
                    </a:p>
                  </a:txBody>
                  <a:tcPr marL="104791" marR="104791" marT="104791" marB="1047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solidFill>
                            <a:srgbClr val="DEFF9A"/>
                          </a:solidFill>
                          <a:effectLst/>
                        </a:rPr>
                        <a:t>Foreign Keys</a:t>
                      </a:r>
                    </a:p>
                  </a:txBody>
                  <a:tcPr marL="104791" marR="104791" marT="104791" marB="1047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solidFill>
                            <a:srgbClr val="DEFF9A"/>
                          </a:solidFill>
                          <a:effectLst/>
                        </a:rPr>
                        <a:t>Description</a:t>
                      </a:r>
                    </a:p>
                  </a:txBody>
                  <a:tcPr marL="104791" marR="104791" marT="104791" marB="1047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3941422"/>
                  </a:ext>
                </a:extLst>
              </a:tr>
              <a:tr h="5712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CCCCCC"/>
                          </a:solidFill>
                          <a:effectLst/>
                          <a:latin typeface="Courier New" panose="02070309020205020404" pitchFamily="49" charset="0"/>
                        </a:rPr>
                        <a:t>Inventory_Cats</a:t>
                      </a:r>
                      <a:endParaRPr lang="en-US" sz="1000">
                        <a:solidFill>
                          <a:srgbClr val="CCCCCC"/>
                        </a:solidFill>
                        <a:effectLst/>
                      </a:endParaRP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rgbClr val="F472B6"/>
                          </a:solidFill>
                          <a:effectLst/>
                        </a:rPr>
                        <a:t>InvCatID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1000">
                          <a:solidFill>
                            <a:srgbClr val="CCCCCC"/>
                          </a:solidFill>
                          <a:effectLst/>
                        </a:rPr>
                        <a:t>-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CCCCCC"/>
                          </a:solidFill>
                          <a:effectLst/>
                        </a:rPr>
                        <a:t>Categories (Food, Linen, Electronics).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0961737"/>
                  </a:ext>
                </a:extLst>
              </a:tr>
              <a:tr h="5712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CCCCCC"/>
                          </a:solidFill>
                          <a:effectLst/>
                          <a:latin typeface="Courier New" panose="02070309020205020404" pitchFamily="49" charset="0"/>
                        </a:rPr>
                        <a:t>Stock_Items</a:t>
                      </a:r>
                      <a:endParaRPr lang="en-US" sz="1000">
                        <a:solidFill>
                          <a:srgbClr val="CCCCCC"/>
                        </a:solidFill>
                        <a:effectLst/>
                      </a:endParaRP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rgbClr val="F472B6"/>
                          </a:solidFill>
                          <a:effectLst/>
                        </a:rPr>
                        <a:t>StockID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rgbClr val="60A5FA"/>
                          </a:solidFill>
                          <a:effectLst/>
                        </a:rPr>
                        <a:t>InvCatID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CCCCCC"/>
                          </a:solidFill>
                          <a:effectLst/>
                        </a:rPr>
                        <a:t>Item Definition, MinQty (Threshold).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9331218"/>
                  </a:ext>
                </a:extLst>
              </a:tr>
              <a:tr h="3852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CCCCCC"/>
                          </a:solidFill>
                          <a:effectLst/>
                          <a:latin typeface="Courier New" panose="02070309020205020404" pitchFamily="49" charset="0"/>
                        </a:rPr>
                        <a:t>Current_Inventory</a:t>
                      </a:r>
                      <a:endParaRPr lang="en-US" sz="1000">
                        <a:solidFill>
                          <a:srgbClr val="CCCCCC"/>
                        </a:solidFill>
                        <a:effectLst/>
                      </a:endParaRP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rgbClr val="F472B6"/>
                          </a:solidFill>
                          <a:effectLst/>
                        </a:rPr>
                        <a:t>InvID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rgbClr val="60A5FA"/>
                          </a:solidFill>
                          <a:effectLst/>
                        </a:rPr>
                        <a:t>StockID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CCCCCC"/>
                          </a:solidFill>
                          <a:effectLst/>
                        </a:rPr>
                        <a:t>Live Quantity on hand.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2922506"/>
                  </a:ext>
                </a:extLst>
              </a:tr>
              <a:tr h="3852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CCCCCC"/>
                          </a:solidFill>
                          <a:effectLst/>
                          <a:latin typeface="Courier New" panose="02070309020205020404" pitchFamily="49" charset="0"/>
                        </a:rPr>
                        <a:t>Stock_Issues</a:t>
                      </a:r>
                      <a:endParaRPr lang="en-US" sz="1000">
                        <a:solidFill>
                          <a:srgbClr val="CCCCCC"/>
                        </a:solidFill>
                        <a:effectLst/>
                      </a:endParaRP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rgbClr val="F472B6"/>
                          </a:solidFill>
                          <a:effectLst/>
                        </a:rPr>
                        <a:t>IssueID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rgbClr val="60A5FA"/>
                          </a:solidFill>
                          <a:effectLst/>
                        </a:rPr>
                        <a:t>StockID, DeptID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effectLst/>
                        </a:rPr>
                        <a:t>Items issued to internal depts.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18349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26"/>
          <p:cNvSpPr/>
          <p:nvPr/>
        </p:nvSpPr>
        <p:spPr>
          <a:xfrm>
            <a:off x="485775" y="1943100"/>
            <a:ext cx="2331690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6"/>
          <p:cNvSpPr/>
          <p:nvPr/>
        </p:nvSpPr>
        <p:spPr>
          <a:xfrm>
            <a:off x="2817465" y="1943100"/>
            <a:ext cx="1978372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6"/>
          <p:cNvSpPr/>
          <p:nvPr/>
        </p:nvSpPr>
        <p:spPr>
          <a:xfrm>
            <a:off x="4795837" y="1943100"/>
            <a:ext cx="2600176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6"/>
          <p:cNvSpPr/>
          <p:nvPr/>
        </p:nvSpPr>
        <p:spPr>
          <a:xfrm>
            <a:off x="7396013" y="1943100"/>
            <a:ext cx="4310211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6"/>
          <p:cNvSpPr/>
          <p:nvPr/>
        </p:nvSpPr>
        <p:spPr>
          <a:xfrm>
            <a:off x="485775" y="2462212"/>
            <a:ext cx="233169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6"/>
          <p:cNvSpPr/>
          <p:nvPr/>
        </p:nvSpPr>
        <p:spPr>
          <a:xfrm>
            <a:off x="2817465" y="2462212"/>
            <a:ext cx="1978372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6"/>
          <p:cNvSpPr/>
          <p:nvPr/>
        </p:nvSpPr>
        <p:spPr>
          <a:xfrm>
            <a:off x="4795837" y="2462212"/>
            <a:ext cx="2600176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6"/>
          <p:cNvSpPr/>
          <p:nvPr/>
        </p:nvSpPr>
        <p:spPr>
          <a:xfrm>
            <a:off x="7396013" y="2462212"/>
            <a:ext cx="4310211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6"/>
          <p:cNvSpPr/>
          <p:nvPr/>
        </p:nvSpPr>
        <p:spPr>
          <a:xfrm>
            <a:off x="485775" y="2967037"/>
            <a:ext cx="233169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6"/>
          <p:cNvSpPr/>
          <p:nvPr/>
        </p:nvSpPr>
        <p:spPr>
          <a:xfrm>
            <a:off x="2817465" y="2967037"/>
            <a:ext cx="1978372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6"/>
          <p:cNvSpPr/>
          <p:nvPr/>
        </p:nvSpPr>
        <p:spPr>
          <a:xfrm>
            <a:off x="4795837" y="2967037"/>
            <a:ext cx="2600176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6"/>
          <p:cNvSpPr/>
          <p:nvPr/>
        </p:nvSpPr>
        <p:spPr>
          <a:xfrm>
            <a:off x="7396013" y="2967037"/>
            <a:ext cx="4310211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6"/>
          <p:cNvSpPr/>
          <p:nvPr/>
        </p:nvSpPr>
        <p:spPr>
          <a:xfrm>
            <a:off x="485775" y="3471862"/>
            <a:ext cx="233169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6"/>
          <p:cNvSpPr/>
          <p:nvPr/>
        </p:nvSpPr>
        <p:spPr>
          <a:xfrm>
            <a:off x="2817465" y="3471862"/>
            <a:ext cx="1978372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6"/>
          <p:cNvSpPr/>
          <p:nvPr/>
        </p:nvSpPr>
        <p:spPr>
          <a:xfrm>
            <a:off x="4795837" y="3471862"/>
            <a:ext cx="2600176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6"/>
          <p:cNvSpPr/>
          <p:nvPr/>
        </p:nvSpPr>
        <p:spPr>
          <a:xfrm>
            <a:off x="7396013" y="3471862"/>
            <a:ext cx="4310211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6"/>
          <p:cNvSpPr txBox="1"/>
          <p:nvPr/>
        </p:nvSpPr>
        <p:spPr>
          <a:xfrm>
            <a:off x="485775" y="485775"/>
            <a:ext cx="117062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Schema: Procurement Cycle</a:t>
            </a:r>
            <a:endParaRPr/>
          </a:p>
        </p:txBody>
      </p:sp>
      <p:sp>
        <p:nvSpPr>
          <p:cNvPr id="356" name="Google Shape;356;p26"/>
          <p:cNvSpPr/>
          <p:nvPr/>
        </p:nvSpPr>
        <p:spPr>
          <a:xfrm>
            <a:off x="485775" y="1114425"/>
            <a:ext cx="11220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D2AD962-34C2-F168-00F2-8F64F4A6A5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764392"/>
              </p:ext>
            </p:extLst>
          </p:nvPr>
        </p:nvGraphicFramePr>
        <p:xfrm>
          <a:off x="485774" y="1149570"/>
          <a:ext cx="11220448" cy="2322290"/>
        </p:xfrm>
        <a:graphic>
          <a:graphicData uri="http://schemas.openxmlformats.org/drawingml/2006/table">
            <a:tbl>
              <a:tblPr/>
              <a:tblGrid>
                <a:gridCol w="2805112">
                  <a:extLst>
                    <a:ext uri="{9D8B030D-6E8A-4147-A177-3AD203B41FA5}">
                      <a16:colId xmlns:a16="http://schemas.microsoft.com/office/drawing/2014/main" val="2530155548"/>
                    </a:ext>
                  </a:extLst>
                </a:gridCol>
                <a:gridCol w="2805112">
                  <a:extLst>
                    <a:ext uri="{9D8B030D-6E8A-4147-A177-3AD203B41FA5}">
                      <a16:colId xmlns:a16="http://schemas.microsoft.com/office/drawing/2014/main" val="4265262817"/>
                    </a:ext>
                  </a:extLst>
                </a:gridCol>
                <a:gridCol w="2805112">
                  <a:extLst>
                    <a:ext uri="{9D8B030D-6E8A-4147-A177-3AD203B41FA5}">
                      <a16:colId xmlns:a16="http://schemas.microsoft.com/office/drawing/2014/main" val="2204778834"/>
                    </a:ext>
                  </a:extLst>
                </a:gridCol>
                <a:gridCol w="2805112">
                  <a:extLst>
                    <a:ext uri="{9D8B030D-6E8A-4147-A177-3AD203B41FA5}">
                      <a16:colId xmlns:a16="http://schemas.microsoft.com/office/drawing/2014/main" val="2779843724"/>
                    </a:ext>
                  </a:extLst>
                </a:gridCol>
              </a:tblGrid>
              <a:tr h="5112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solidFill>
                            <a:srgbClr val="DEFF9A"/>
                          </a:solidFill>
                          <a:effectLst/>
                        </a:rPr>
                        <a:t>Table Name</a:t>
                      </a:r>
                    </a:p>
                  </a:txBody>
                  <a:tcPr marL="104791" marR="104791" marT="104791" marB="1047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solidFill>
                            <a:srgbClr val="DEFF9A"/>
                          </a:solidFill>
                          <a:effectLst/>
                        </a:rPr>
                        <a:t>PK</a:t>
                      </a:r>
                    </a:p>
                  </a:txBody>
                  <a:tcPr marL="104791" marR="104791" marT="104791" marB="1047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solidFill>
                            <a:srgbClr val="DEFF9A"/>
                          </a:solidFill>
                          <a:effectLst/>
                        </a:rPr>
                        <a:t>FKs</a:t>
                      </a:r>
                    </a:p>
                  </a:txBody>
                  <a:tcPr marL="104791" marR="104791" marT="104791" marB="1047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solidFill>
                            <a:srgbClr val="DEFF9A"/>
                          </a:solidFill>
                          <a:effectLst/>
                        </a:rPr>
                        <a:t>Workflow Stage</a:t>
                      </a:r>
                    </a:p>
                  </a:txBody>
                  <a:tcPr marL="104791" marR="104791" marT="104791" marB="1047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2086946"/>
                  </a:ext>
                </a:extLst>
              </a:tr>
              <a:tr h="4527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CCCCCC"/>
                          </a:solidFill>
                          <a:effectLst/>
                          <a:latin typeface="Courier New" panose="02070309020205020404" pitchFamily="49" charset="0"/>
                        </a:rPr>
                        <a:t>Vendors</a:t>
                      </a:r>
                      <a:endParaRPr lang="en-US" sz="1000">
                        <a:solidFill>
                          <a:srgbClr val="CCCCCC"/>
                        </a:solidFill>
                        <a:effectLst/>
                      </a:endParaRP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rgbClr val="F472B6"/>
                          </a:solidFill>
                          <a:effectLst/>
                        </a:rPr>
                        <a:t>VendorID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1000">
                          <a:solidFill>
                            <a:srgbClr val="CCCCCC"/>
                          </a:solidFill>
                          <a:effectLst/>
                        </a:rPr>
                        <a:t>-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CCCCCC"/>
                          </a:solidFill>
                          <a:effectLst/>
                        </a:rPr>
                        <a:t>Supplier Master Data.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4530884"/>
                  </a:ext>
                </a:extLst>
              </a:tr>
              <a:tr h="4527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CCCCCC"/>
                          </a:solidFill>
                          <a:effectLst/>
                          <a:latin typeface="Courier New" panose="02070309020205020404" pitchFamily="49" charset="0"/>
                        </a:rPr>
                        <a:t>Purchase_Orders</a:t>
                      </a:r>
                      <a:endParaRPr lang="en-US" sz="1000">
                        <a:solidFill>
                          <a:srgbClr val="CCCCCC"/>
                        </a:solidFill>
                        <a:effectLst/>
                      </a:endParaRP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rgbClr val="F472B6"/>
                          </a:solidFill>
                          <a:effectLst/>
                        </a:rPr>
                        <a:t>PO_ID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rgbClr val="60A5FA"/>
                          </a:solidFill>
                          <a:effectLst/>
                        </a:rPr>
                        <a:t>VendorID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CCCCCC"/>
                          </a:solidFill>
                          <a:effectLst/>
                        </a:rPr>
                        <a:t>1. Order Creation.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3579231"/>
                  </a:ext>
                </a:extLst>
              </a:tr>
              <a:tr h="4527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CCCCCC"/>
                          </a:solidFill>
                          <a:effectLst/>
                          <a:latin typeface="Courier New" panose="02070309020205020404" pitchFamily="49" charset="0"/>
                        </a:rPr>
                        <a:t>PO_Details</a:t>
                      </a:r>
                      <a:endParaRPr lang="en-US" sz="1000">
                        <a:solidFill>
                          <a:srgbClr val="CCCCCC"/>
                        </a:solidFill>
                        <a:effectLst/>
                      </a:endParaRP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rgbClr val="F472B6"/>
                          </a:solidFill>
                          <a:effectLst/>
                        </a:rPr>
                        <a:t>PODetailID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rgbClr val="60A5FA"/>
                          </a:solidFill>
                          <a:effectLst/>
                        </a:rPr>
                        <a:t>PO_ID, StockID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CCCCCC"/>
                          </a:solidFill>
                          <a:effectLst/>
                        </a:rPr>
                        <a:t>2. Line Items Added.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985320"/>
                  </a:ext>
                </a:extLst>
              </a:tr>
              <a:tr h="4527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CCCCCC"/>
                          </a:solidFill>
                          <a:effectLst/>
                          <a:latin typeface="Courier New" panose="02070309020205020404" pitchFamily="49" charset="0"/>
                        </a:rPr>
                        <a:t>Goods_Received</a:t>
                      </a:r>
                      <a:endParaRPr lang="en-US" sz="1000">
                        <a:solidFill>
                          <a:srgbClr val="CCCCCC"/>
                        </a:solidFill>
                        <a:effectLst/>
                      </a:endParaRP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rgbClr val="F472B6"/>
                          </a:solidFill>
                          <a:effectLst/>
                        </a:rPr>
                        <a:t>GRN_ID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rgbClr val="60A5FA"/>
                          </a:solidFill>
                          <a:effectLst/>
                        </a:rPr>
                        <a:t>PO_ID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effectLst/>
                        </a:rPr>
                        <a:t>3. Delivery Confirmation.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58161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1" name="Google Shape;361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27"/>
          <p:cNvSpPr txBox="1"/>
          <p:nvPr/>
        </p:nvSpPr>
        <p:spPr>
          <a:xfrm>
            <a:off x="771525" y="771525"/>
            <a:ext cx="4790598" cy="971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Module 5: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1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Facilities</a:t>
            </a:r>
            <a:endParaRPr/>
          </a:p>
        </p:txBody>
      </p:sp>
      <p:pic>
        <p:nvPicPr>
          <p:cNvPr id="363" name="Google Shape;363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9525"/>
            <a:ext cx="6086475" cy="6838950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27"/>
          <p:cNvSpPr txBox="1"/>
          <p:nvPr/>
        </p:nvSpPr>
        <p:spPr>
          <a:xfrm>
            <a:off x="771525" y="2343150"/>
            <a:ext cx="45624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Core Focus:</a:t>
            </a: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Managing Spa, Gym, Events, and Housekeeping.</a:t>
            </a:r>
            <a:endParaRPr/>
          </a:p>
        </p:txBody>
      </p:sp>
      <p:sp>
        <p:nvSpPr>
          <p:cNvPr id="365" name="Google Shape;365;p27"/>
          <p:cNvSpPr txBox="1"/>
          <p:nvPr/>
        </p:nvSpPr>
        <p:spPr>
          <a:xfrm>
            <a:off x="771525" y="2943225"/>
            <a:ext cx="45624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Key Relationships:</a:t>
            </a: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Bookings linked to Guests and specific Services/Halls.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0" name="Google Shape;370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28"/>
          <p:cNvSpPr/>
          <p:nvPr/>
        </p:nvSpPr>
        <p:spPr>
          <a:xfrm>
            <a:off x="485775" y="1943100"/>
            <a:ext cx="2331690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8"/>
          <p:cNvSpPr/>
          <p:nvPr/>
        </p:nvSpPr>
        <p:spPr>
          <a:xfrm>
            <a:off x="2817465" y="1943100"/>
            <a:ext cx="1978372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8"/>
          <p:cNvSpPr/>
          <p:nvPr/>
        </p:nvSpPr>
        <p:spPr>
          <a:xfrm>
            <a:off x="4795837" y="1943100"/>
            <a:ext cx="2755552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8"/>
          <p:cNvSpPr/>
          <p:nvPr/>
        </p:nvSpPr>
        <p:spPr>
          <a:xfrm>
            <a:off x="7551390" y="1943100"/>
            <a:ext cx="4154834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8"/>
          <p:cNvSpPr/>
          <p:nvPr/>
        </p:nvSpPr>
        <p:spPr>
          <a:xfrm>
            <a:off x="485775" y="2462212"/>
            <a:ext cx="233169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8"/>
          <p:cNvSpPr/>
          <p:nvPr/>
        </p:nvSpPr>
        <p:spPr>
          <a:xfrm>
            <a:off x="2817465" y="2462212"/>
            <a:ext cx="1978372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8"/>
          <p:cNvSpPr/>
          <p:nvPr/>
        </p:nvSpPr>
        <p:spPr>
          <a:xfrm>
            <a:off x="4795837" y="2462212"/>
            <a:ext cx="2755552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8"/>
          <p:cNvSpPr/>
          <p:nvPr/>
        </p:nvSpPr>
        <p:spPr>
          <a:xfrm>
            <a:off x="7551390" y="2462212"/>
            <a:ext cx="4154834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8"/>
          <p:cNvSpPr/>
          <p:nvPr/>
        </p:nvSpPr>
        <p:spPr>
          <a:xfrm>
            <a:off x="485775" y="2967037"/>
            <a:ext cx="233169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8"/>
          <p:cNvSpPr/>
          <p:nvPr/>
        </p:nvSpPr>
        <p:spPr>
          <a:xfrm>
            <a:off x="2817465" y="2967037"/>
            <a:ext cx="1978372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8"/>
          <p:cNvSpPr/>
          <p:nvPr/>
        </p:nvSpPr>
        <p:spPr>
          <a:xfrm>
            <a:off x="4795837" y="2967037"/>
            <a:ext cx="2755552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8"/>
          <p:cNvSpPr/>
          <p:nvPr/>
        </p:nvSpPr>
        <p:spPr>
          <a:xfrm>
            <a:off x="7551390" y="2967037"/>
            <a:ext cx="4154834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8"/>
          <p:cNvSpPr/>
          <p:nvPr/>
        </p:nvSpPr>
        <p:spPr>
          <a:xfrm>
            <a:off x="485775" y="3471862"/>
            <a:ext cx="233169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8"/>
          <p:cNvSpPr/>
          <p:nvPr/>
        </p:nvSpPr>
        <p:spPr>
          <a:xfrm>
            <a:off x="2817465" y="3471862"/>
            <a:ext cx="1978372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8"/>
          <p:cNvSpPr/>
          <p:nvPr/>
        </p:nvSpPr>
        <p:spPr>
          <a:xfrm>
            <a:off x="4795837" y="3471862"/>
            <a:ext cx="2755552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8"/>
          <p:cNvSpPr/>
          <p:nvPr/>
        </p:nvSpPr>
        <p:spPr>
          <a:xfrm>
            <a:off x="7551390" y="3471862"/>
            <a:ext cx="4154834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8"/>
          <p:cNvSpPr/>
          <p:nvPr/>
        </p:nvSpPr>
        <p:spPr>
          <a:xfrm>
            <a:off x="485775" y="3976687"/>
            <a:ext cx="233169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8"/>
          <p:cNvSpPr/>
          <p:nvPr/>
        </p:nvSpPr>
        <p:spPr>
          <a:xfrm>
            <a:off x="2817465" y="3976687"/>
            <a:ext cx="1978372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8"/>
          <p:cNvSpPr/>
          <p:nvPr/>
        </p:nvSpPr>
        <p:spPr>
          <a:xfrm>
            <a:off x="4795837" y="3976687"/>
            <a:ext cx="2755552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8"/>
          <p:cNvSpPr/>
          <p:nvPr/>
        </p:nvSpPr>
        <p:spPr>
          <a:xfrm>
            <a:off x="7551390" y="3976687"/>
            <a:ext cx="4154834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8"/>
          <p:cNvSpPr txBox="1"/>
          <p:nvPr/>
        </p:nvSpPr>
        <p:spPr>
          <a:xfrm>
            <a:off x="485775" y="485775"/>
            <a:ext cx="117062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Schema: Spa, Gym &amp; Events</a:t>
            </a:r>
            <a:endParaRPr/>
          </a:p>
        </p:txBody>
      </p:sp>
      <p:sp>
        <p:nvSpPr>
          <p:cNvPr id="393" name="Google Shape;393;p28"/>
          <p:cNvSpPr/>
          <p:nvPr/>
        </p:nvSpPr>
        <p:spPr>
          <a:xfrm>
            <a:off x="485775" y="1114425"/>
            <a:ext cx="11220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B441CC2-BFA7-5F8D-0DC7-564A2940EA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4637606"/>
              </p:ext>
            </p:extLst>
          </p:nvPr>
        </p:nvGraphicFramePr>
        <p:xfrm>
          <a:off x="485774" y="1135234"/>
          <a:ext cx="11220448" cy="2850980"/>
        </p:xfrm>
        <a:graphic>
          <a:graphicData uri="http://schemas.openxmlformats.org/drawingml/2006/table">
            <a:tbl>
              <a:tblPr/>
              <a:tblGrid>
                <a:gridCol w="2805112">
                  <a:extLst>
                    <a:ext uri="{9D8B030D-6E8A-4147-A177-3AD203B41FA5}">
                      <a16:colId xmlns:a16="http://schemas.microsoft.com/office/drawing/2014/main" val="127413859"/>
                    </a:ext>
                  </a:extLst>
                </a:gridCol>
                <a:gridCol w="2805112">
                  <a:extLst>
                    <a:ext uri="{9D8B030D-6E8A-4147-A177-3AD203B41FA5}">
                      <a16:colId xmlns:a16="http://schemas.microsoft.com/office/drawing/2014/main" val="3276879984"/>
                    </a:ext>
                  </a:extLst>
                </a:gridCol>
                <a:gridCol w="2805112">
                  <a:extLst>
                    <a:ext uri="{9D8B030D-6E8A-4147-A177-3AD203B41FA5}">
                      <a16:colId xmlns:a16="http://schemas.microsoft.com/office/drawing/2014/main" val="1831149483"/>
                    </a:ext>
                  </a:extLst>
                </a:gridCol>
                <a:gridCol w="2805112">
                  <a:extLst>
                    <a:ext uri="{9D8B030D-6E8A-4147-A177-3AD203B41FA5}">
                      <a16:colId xmlns:a16="http://schemas.microsoft.com/office/drawing/2014/main" val="233642541"/>
                    </a:ext>
                  </a:extLst>
                </a:gridCol>
              </a:tblGrid>
              <a:tr h="5252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solidFill>
                            <a:srgbClr val="DEFF9A"/>
                          </a:solidFill>
                          <a:effectLst/>
                        </a:rPr>
                        <a:t>Table Name</a:t>
                      </a:r>
                    </a:p>
                  </a:txBody>
                  <a:tcPr marL="104791" marR="104791" marT="104791" marB="1047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solidFill>
                            <a:srgbClr val="DEFF9A"/>
                          </a:solidFill>
                          <a:effectLst/>
                        </a:rPr>
                        <a:t>PK</a:t>
                      </a:r>
                    </a:p>
                  </a:txBody>
                  <a:tcPr marL="104791" marR="104791" marT="104791" marB="1047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solidFill>
                            <a:srgbClr val="DEFF9A"/>
                          </a:solidFill>
                          <a:effectLst/>
                        </a:rPr>
                        <a:t>Foreign Keys</a:t>
                      </a:r>
                    </a:p>
                  </a:txBody>
                  <a:tcPr marL="104791" marR="104791" marT="104791" marB="1047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solidFill>
                            <a:srgbClr val="DEFF9A"/>
                          </a:solidFill>
                          <a:effectLst/>
                        </a:rPr>
                        <a:t>Description</a:t>
                      </a:r>
                    </a:p>
                  </a:txBody>
                  <a:tcPr marL="104791" marR="104791" marT="104791" marB="1047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7390438"/>
                  </a:ext>
                </a:extLst>
              </a:tr>
              <a:tr h="4651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CCCCCC"/>
                          </a:solidFill>
                          <a:effectLst/>
                          <a:latin typeface="Courier New" panose="02070309020205020404" pitchFamily="49" charset="0"/>
                        </a:rPr>
                        <a:t>Spa_Services</a:t>
                      </a:r>
                      <a:endParaRPr lang="en-US" sz="1000">
                        <a:solidFill>
                          <a:srgbClr val="CCCCCC"/>
                        </a:solidFill>
                        <a:effectLst/>
                      </a:endParaRP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rgbClr val="F472B6"/>
                          </a:solidFill>
                          <a:effectLst/>
                        </a:rPr>
                        <a:t>SpaID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1000">
                          <a:solidFill>
                            <a:srgbClr val="CCCCCC"/>
                          </a:solidFill>
                          <a:effectLst/>
                        </a:rPr>
                        <a:t>-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CCCCCC"/>
                          </a:solidFill>
                          <a:effectLst/>
                        </a:rPr>
                        <a:t>Service Menu &amp; Price.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7475321"/>
                  </a:ext>
                </a:extLst>
              </a:tr>
              <a:tr h="4651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CCCCCC"/>
                          </a:solidFill>
                          <a:effectLst/>
                          <a:latin typeface="Courier New" panose="02070309020205020404" pitchFamily="49" charset="0"/>
                        </a:rPr>
                        <a:t>Spa_Bookings</a:t>
                      </a:r>
                      <a:endParaRPr lang="en-US" sz="1000">
                        <a:solidFill>
                          <a:srgbClr val="CCCCCC"/>
                        </a:solidFill>
                        <a:effectLst/>
                      </a:endParaRP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rgbClr val="F472B6"/>
                          </a:solidFill>
                          <a:effectLst/>
                        </a:rPr>
                        <a:t>SpaBookID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rgbClr val="60A5FA"/>
                          </a:solidFill>
                          <a:effectLst/>
                        </a:rPr>
                        <a:t>GuestID, SpaID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CCCCCC"/>
                          </a:solidFill>
                          <a:effectLst/>
                        </a:rPr>
                        <a:t>Appointment scheduling.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125980"/>
                  </a:ext>
                </a:extLst>
              </a:tr>
              <a:tr h="4651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CCCCCC"/>
                          </a:solidFill>
                          <a:effectLst/>
                          <a:latin typeface="Courier New" panose="02070309020205020404" pitchFamily="49" charset="0"/>
                        </a:rPr>
                        <a:t>Gym_Memberships</a:t>
                      </a:r>
                      <a:endParaRPr lang="en-US" sz="1000">
                        <a:solidFill>
                          <a:srgbClr val="CCCCCC"/>
                        </a:solidFill>
                        <a:effectLst/>
                      </a:endParaRP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rgbClr val="F472B6"/>
                          </a:solidFill>
                          <a:effectLst/>
                        </a:rPr>
                        <a:t>GymID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rgbClr val="60A5FA"/>
                          </a:solidFill>
                          <a:effectLst/>
                        </a:rPr>
                        <a:t>GuestID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CCCCCC"/>
                          </a:solidFill>
                          <a:effectLst/>
                        </a:rPr>
                        <a:t>Membership Plans.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8167900"/>
                  </a:ext>
                </a:extLst>
              </a:tr>
              <a:tr h="4651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CCCCCC"/>
                          </a:solidFill>
                          <a:effectLst/>
                          <a:latin typeface="Courier New" panose="02070309020205020404" pitchFamily="49" charset="0"/>
                        </a:rPr>
                        <a:t>Event_Halls</a:t>
                      </a:r>
                      <a:endParaRPr lang="en-US" sz="1000">
                        <a:solidFill>
                          <a:srgbClr val="CCCCCC"/>
                        </a:solidFill>
                        <a:effectLst/>
                      </a:endParaRP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rgbClr val="F472B6"/>
                          </a:solidFill>
                          <a:effectLst/>
                        </a:rPr>
                        <a:t>HallID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1000">
                          <a:solidFill>
                            <a:srgbClr val="CCCCCC"/>
                          </a:solidFill>
                          <a:effectLst/>
                        </a:rPr>
                        <a:t>-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CCCCCC"/>
                          </a:solidFill>
                          <a:effectLst/>
                        </a:rPr>
                        <a:t>Banquet Hall capacities.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9422410"/>
                  </a:ext>
                </a:extLst>
              </a:tr>
              <a:tr h="4651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CCCCCC"/>
                          </a:solidFill>
                          <a:effectLst/>
                          <a:latin typeface="Courier New" panose="02070309020205020404" pitchFamily="49" charset="0"/>
                        </a:rPr>
                        <a:t>Hall_Bookings</a:t>
                      </a:r>
                      <a:endParaRPr lang="en-US" sz="1000">
                        <a:solidFill>
                          <a:srgbClr val="CCCCCC"/>
                        </a:solidFill>
                        <a:effectLst/>
                      </a:endParaRP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rgbClr val="F472B6"/>
                          </a:solidFill>
                          <a:effectLst/>
                        </a:rPr>
                        <a:t>HallBookID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rgbClr val="60A5FA"/>
                          </a:solidFill>
                          <a:effectLst/>
                        </a:rPr>
                        <a:t>HallID, GuestID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effectLst/>
                        </a:rPr>
                        <a:t>Event reservations.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990156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8" name="Google Shape;398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29"/>
          <p:cNvSpPr/>
          <p:nvPr/>
        </p:nvSpPr>
        <p:spPr>
          <a:xfrm>
            <a:off x="485775" y="1943100"/>
            <a:ext cx="2522487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29"/>
          <p:cNvSpPr/>
          <p:nvPr/>
        </p:nvSpPr>
        <p:spPr>
          <a:xfrm>
            <a:off x="3008262" y="1943100"/>
            <a:ext cx="1694854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9"/>
          <p:cNvSpPr/>
          <p:nvPr/>
        </p:nvSpPr>
        <p:spPr>
          <a:xfrm>
            <a:off x="4703117" y="1943100"/>
            <a:ext cx="2272903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9"/>
          <p:cNvSpPr/>
          <p:nvPr/>
        </p:nvSpPr>
        <p:spPr>
          <a:xfrm>
            <a:off x="6976020" y="1943100"/>
            <a:ext cx="4730204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29"/>
          <p:cNvSpPr/>
          <p:nvPr/>
        </p:nvSpPr>
        <p:spPr>
          <a:xfrm>
            <a:off x="485775" y="2462212"/>
            <a:ext cx="2522487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9"/>
          <p:cNvSpPr/>
          <p:nvPr/>
        </p:nvSpPr>
        <p:spPr>
          <a:xfrm>
            <a:off x="3008262" y="2462212"/>
            <a:ext cx="1694854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29"/>
          <p:cNvSpPr/>
          <p:nvPr/>
        </p:nvSpPr>
        <p:spPr>
          <a:xfrm>
            <a:off x="4703117" y="2462212"/>
            <a:ext cx="2272903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9"/>
          <p:cNvSpPr/>
          <p:nvPr/>
        </p:nvSpPr>
        <p:spPr>
          <a:xfrm>
            <a:off x="6976020" y="2462212"/>
            <a:ext cx="4730204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9"/>
          <p:cNvSpPr/>
          <p:nvPr/>
        </p:nvSpPr>
        <p:spPr>
          <a:xfrm>
            <a:off x="485775" y="2967037"/>
            <a:ext cx="2522487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29"/>
          <p:cNvSpPr/>
          <p:nvPr/>
        </p:nvSpPr>
        <p:spPr>
          <a:xfrm>
            <a:off x="3008262" y="2967037"/>
            <a:ext cx="1694854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9"/>
          <p:cNvSpPr/>
          <p:nvPr/>
        </p:nvSpPr>
        <p:spPr>
          <a:xfrm>
            <a:off x="4703117" y="2967037"/>
            <a:ext cx="2272903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9"/>
          <p:cNvSpPr/>
          <p:nvPr/>
        </p:nvSpPr>
        <p:spPr>
          <a:xfrm>
            <a:off x="6976020" y="2967037"/>
            <a:ext cx="4730204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9"/>
          <p:cNvSpPr/>
          <p:nvPr/>
        </p:nvSpPr>
        <p:spPr>
          <a:xfrm>
            <a:off x="485775" y="3471862"/>
            <a:ext cx="2522487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9"/>
          <p:cNvSpPr/>
          <p:nvPr/>
        </p:nvSpPr>
        <p:spPr>
          <a:xfrm>
            <a:off x="3008262" y="3471862"/>
            <a:ext cx="1694854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9"/>
          <p:cNvSpPr/>
          <p:nvPr/>
        </p:nvSpPr>
        <p:spPr>
          <a:xfrm>
            <a:off x="4703117" y="3471862"/>
            <a:ext cx="2272903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9"/>
          <p:cNvSpPr/>
          <p:nvPr/>
        </p:nvSpPr>
        <p:spPr>
          <a:xfrm>
            <a:off x="6976020" y="3471862"/>
            <a:ext cx="4730204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29"/>
          <p:cNvSpPr txBox="1"/>
          <p:nvPr/>
        </p:nvSpPr>
        <p:spPr>
          <a:xfrm>
            <a:off x="485775" y="485775"/>
            <a:ext cx="117062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Schema: Housekeeping &amp; Laundry</a:t>
            </a:r>
            <a:endParaRPr/>
          </a:p>
        </p:txBody>
      </p:sp>
      <p:sp>
        <p:nvSpPr>
          <p:cNvPr id="417" name="Google Shape;417;p29"/>
          <p:cNvSpPr/>
          <p:nvPr/>
        </p:nvSpPr>
        <p:spPr>
          <a:xfrm>
            <a:off x="485775" y="1114425"/>
            <a:ext cx="11220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257BDBF-6050-E8BC-8D60-E69BF35B15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2890074"/>
              </p:ext>
            </p:extLst>
          </p:nvPr>
        </p:nvGraphicFramePr>
        <p:xfrm>
          <a:off x="485774" y="1130806"/>
          <a:ext cx="11220448" cy="2341053"/>
        </p:xfrm>
        <a:graphic>
          <a:graphicData uri="http://schemas.openxmlformats.org/drawingml/2006/table">
            <a:tbl>
              <a:tblPr/>
              <a:tblGrid>
                <a:gridCol w="2805112">
                  <a:extLst>
                    <a:ext uri="{9D8B030D-6E8A-4147-A177-3AD203B41FA5}">
                      <a16:colId xmlns:a16="http://schemas.microsoft.com/office/drawing/2014/main" val="1216276201"/>
                    </a:ext>
                  </a:extLst>
                </a:gridCol>
                <a:gridCol w="2805112">
                  <a:extLst>
                    <a:ext uri="{9D8B030D-6E8A-4147-A177-3AD203B41FA5}">
                      <a16:colId xmlns:a16="http://schemas.microsoft.com/office/drawing/2014/main" val="1801073033"/>
                    </a:ext>
                  </a:extLst>
                </a:gridCol>
                <a:gridCol w="2805112">
                  <a:extLst>
                    <a:ext uri="{9D8B030D-6E8A-4147-A177-3AD203B41FA5}">
                      <a16:colId xmlns:a16="http://schemas.microsoft.com/office/drawing/2014/main" val="1535049170"/>
                    </a:ext>
                  </a:extLst>
                </a:gridCol>
                <a:gridCol w="2805112">
                  <a:extLst>
                    <a:ext uri="{9D8B030D-6E8A-4147-A177-3AD203B41FA5}">
                      <a16:colId xmlns:a16="http://schemas.microsoft.com/office/drawing/2014/main" val="2085517863"/>
                    </a:ext>
                  </a:extLst>
                </a:gridCol>
              </a:tblGrid>
              <a:tr h="5154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solidFill>
                            <a:srgbClr val="DEFF9A"/>
                          </a:solidFill>
                          <a:effectLst/>
                        </a:rPr>
                        <a:t>Table Name</a:t>
                      </a:r>
                    </a:p>
                  </a:txBody>
                  <a:tcPr marL="104791" marR="104791" marT="104791" marB="1047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solidFill>
                            <a:srgbClr val="DEFF9A"/>
                          </a:solidFill>
                          <a:effectLst/>
                        </a:rPr>
                        <a:t>PK</a:t>
                      </a:r>
                    </a:p>
                  </a:txBody>
                  <a:tcPr marL="104791" marR="104791" marT="104791" marB="1047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solidFill>
                            <a:srgbClr val="DEFF9A"/>
                          </a:solidFill>
                          <a:effectLst/>
                        </a:rPr>
                        <a:t>Foreign Keys</a:t>
                      </a:r>
                    </a:p>
                  </a:txBody>
                  <a:tcPr marL="104791" marR="104791" marT="104791" marB="1047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solidFill>
                            <a:srgbClr val="DEFF9A"/>
                          </a:solidFill>
                          <a:effectLst/>
                        </a:rPr>
                        <a:t>Description</a:t>
                      </a:r>
                    </a:p>
                  </a:txBody>
                  <a:tcPr marL="104791" marR="104791" marT="104791" marB="1047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7985538"/>
                  </a:ext>
                </a:extLst>
              </a:tr>
              <a:tr h="4564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CCCCCC"/>
                          </a:solidFill>
                          <a:effectLst/>
                          <a:latin typeface="Courier New" panose="02070309020205020404" pitchFamily="49" charset="0"/>
                        </a:rPr>
                        <a:t>Laundry_Items</a:t>
                      </a:r>
                      <a:endParaRPr lang="en-US" sz="1000">
                        <a:solidFill>
                          <a:srgbClr val="CCCCCC"/>
                        </a:solidFill>
                        <a:effectLst/>
                      </a:endParaRP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rgbClr val="F472B6"/>
                          </a:solidFill>
                          <a:effectLst/>
                        </a:rPr>
                        <a:t>LaundryID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1000">
                          <a:solidFill>
                            <a:srgbClr val="CCCCCC"/>
                          </a:solidFill>
                          <a:effectLst/>
                        </a:rPr>
                        <a:t>-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CCCCCC"/>
                          </a:solidFill>
                          <a:effectLst/>
                        </a:rPr>
                        <a:t>Price list (Shirt, Suit, etc).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4432410"/>
                  </a:ext>
                </a:extLst>
              </a:tr>
              <a:tr h="4564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CCCCCC"/>
                          </a:solidFill>
                          <a:effectLst/>
                          <a:latin typeface="Courier New" panose="02070309020205020404" pitchFamily="49" charset="0"/>
                        </a:rPr>
                        <a:t>Laundry_Orders</a:t>
                      </a:r>
                      <a:endParaRPr lang="en-US" sz="1000">
                        <a:solidFill>
                          <a:srgbClr val="CCCCCC"/>
                        </a:solidFill>
                        <a:effectLst/>
                      </a:endParaRP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rgbClr val="F472B6"/>
                          </a:solidFill>
                          <a:effectLst/>
                        </a:rPr>
                        <a:t>LOrderID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rgbClr val="60A5FA"/>
                          </a:solidFill>
                          <a:effectLst/>
                        </a:rPr>
                        <a:t>GuestID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CCCCCC"/>
                          </a:solidFill>
                          <a:effectLst/>
                        </a:rPr>
                        <a:t>Service request tracking.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0179768"/>
                  </a:ext>
                </a:extLst>
              </a:tr>
              <a:tr h="4564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CCCCCC"/>
                          </a:solidFill>
                          <a:effectLst/>
                          <a:latin typeface="Courier New" panose="02070309020205020404" pitchFamily="49" charset="0"/>
                        </a:rPr>
                        <a:t>Housekeeping_Tasks</a:t>
                      </a:r>
                      <a:endParaRPr lang="en-US" sz="1000">
                        <a:solidFill>
                          <a:srgbClr val="CCCCCC"/>
                        </a:solidFill>
                        <a:effectLst/>
                      </a:endParaRP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rgbClr val="F472B6"/>
                          </a:solidFill>
                          <a:effectLst/>
                        </a:rPr>
                        <a:t>TaskID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rgbClr val="60A5FA"/>
                          </a:solidFill>
                          <a:effectLst/>
                        </a:rPr>
                        <a:t>RoomID, EmpID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CCCCCC"/>
                          </a:solidFill>
                          <a:effectLst/>
                        </a:rPr>
                        <a:t>Cleaning assignments &amp; Status.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868250"/>
                  </a:ext>
                </a:extLst>
              </a:tr>
              <a:tr h="4564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CCCCCC"/>
                          </a:solidFill>
                          <a:effectLst/>
                          <a:latin typeface="Courier New" panose="02070309020205020404" pitchFamily="49" charset="0"/>
                        </a:rPr>
                        <a:t>Lost_Found</a:t>
                      </a:r>
                      <a:endParaRPr lang="en-US" sz="1000">
                        <a:solidFill>
                          <a:srgbClr val="CCCCCC"/>
                        </a:solidFill>
                        <a:effectLst/>
                      </a:endParaRP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rgbClr val="F472B6"/>
                          </a:solidFill>
                          <a:effectLst/>
                        </a:rPr>
                        <a:t>LF_ID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1000">
                          <a:solidFill>
                            <a:srgbClr val="CCCCCC"/>
                          </a:solidFill>
                          <a:effectLst/>
                        </a:rPr>
                        <a:t>-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effectLst/>
                        </a:rPr>
                        <a:t>Found items logging.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558255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2" name="Google Shape;422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0"/>
          <p:cNvSpPr txBox="1"/>
          <p:nvPr/>
        </p:nvSpPr>
        <p:spPr>
          <a:xfrm>
            <a:off x="771525" y="771525"/>
            <a:ext cx="4790598" cy="971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Module 6: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1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Cybersecurity</a:t>
            </a:r>
            <a:endParaRPr/>
          </a:p>
        </p:txBody>
      </p:sp>
      <p:pic>
        <p:nvPicPr>
          <p:cNvPr id="424" name="Google Shape;424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9525"/>
            <a:ext cx="6086475" cy="6838950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30"/>
          <p:cNvSpPr txBox="1"/>
          <p:nvPr/>
        </p:nvSpPr>
        <p:spPr>
          <a:xfrm>
            <a:off x="771525" y="2343150"/>
            <a:ext cx="45624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Core Focus:</a:t>
            </a: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Zero Trust Architecture, AAA (Auth, Authz, Accounting).</a:t>
            </a:r>
            <a:endParaRPr/>
          </a:p>
        </p:txBody>
      </p:sp>
      <p:sp>
        <p:nvSpPr>
          <p:cNvPr id="426" name="Google Shape;426;p30"/>
          <p:cNvSpPr txBox="1"/>
          <p:nvPr/>
        </p:nvSpPr>
        <p:spPr>
          <a:xfrm>
            <a:off x="771525" y="3200400"/>
            <a:ext cx="45624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Key Relationships:</a:t>
            </a: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Users linked to Roles. Logs linked to Users.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1" name="Google Shape;431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31"/>
          <p:cNvSpPr/>
          <p:nvPr/>
        </p:nvSpPr>
        <p:spPr>
          <a:xfrm>
            <a:off x="485775" y="1943100"/>
            <a:ext cx="2681585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31"/>
          <p:cNvSpPr/>
          <p:nvPr/>
        </p:nvSpPr>
        <p:spPr>
          <a:xfrm>
            <a:off x="3167360" y="1943100"/>
            <a:ext cx="1721048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31"/>
          <p:cNvSpPr/>
          <p:nvPr/>
        </p:nvSpPr>
        <p:spPr>
          <a:xfrm>
            <a:off x="4888408" y="1943100"/>
            <a:ext cx="2308026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31"/>
          <p:cNvSpPr/>
          <p:nvPr/>
        </p:nvSpPr>
        <p:spPr>
          <a:xfrm>
            <a:off x="7196435" y="1943100"/>
            <a:ext cx="4509789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31"/>
          <p:cNvSpPr/>
          <p:nvPr/>
        </p:nvSpPr>
        <p:spPr>
          <a:xfrm>
            <a:off x="485775" y="2462212"/>
            <a:ext cx="2681585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31"/>
          <p:cNvSpPr/>
          <p:nvPr/>
        </p:nvSpPr>
        <p:spPr>
          <a:xfrm>
            <a:off x="3167360" y="2462212"/>
            <a:ext cx="1721048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31"/>
          <p:cNvSpPr/>
          <p:nvPr/>
        </p:nvSpPr>
        <p:spPr>
          <a:xfrm>
            <a:off x="4888408" y="2462212"/>
            <a:ext cx="2308026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31"/>
          <p:cNvSpPr/>
          <p:nvPr/>
        </p:nvSpPr>
        <p:spPr>
          <a:xfrm>
            <a:off x="7196435" y="2462212"/>
            <a:ext cx="4509789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31"/>
          <p:cNvSpPr/>
          <p:nvPr/>
        </p:nvSpPr>
        <p:spPr>
          <a:xfrm>
            <a:off x="485775" y="2967037"/>
            <a:ext cx="2681585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31"/>
          <p:cNvSpPr/>
          <p:nvPr/>
        </p:nvSpPr>
        <p:spPr>
          <a:xfrm>
            <a:off x="3167360" y="2967037"/>
            <a:ext cx="1721048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31"/>
          <p:cNvSpPr/>
          <p:nvPr/>
        </p:nvSpPr>
        <p:spPr>
          <a:xfrm>
            <a:off x="4888408" y="2967037"/>
            <a:ext cx="2308026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31"/>
          <p:cNvSpPr/>
          <p:nvPr/>
        </p:nvSpPr>
        <p:spPr>
          <a:xfrm>
            <a:off x="7196435" y="2967037"/>
            <a:ext cx="4509789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31"/>
          <p:cNvSpPr/>
          <p:nvPr/>
        </p:nvSpPr>
        <p:spPr>
          <a:xfrm>
            <a:off x="485775" y="3471862"/>
            <a:ext cx="2681585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31"/>
          <p:cNvSpPr/>
          <p:nvPr/>
        </p:nvSpPr>
        <p:spPr>
          <a:xfrm>
            <a:off x="3167360" y="3471862"/>
            <a:ext cx="1721048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31"/>
          <p:cNvSpPr/>
          <p:nvPr/>
        </p:nvSpPr>
        <p:spPr>
          <a:xfrm>
            <a:off x="4888408" y="3471862"/>
            <a:ext cx="2308026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31"/>
          <p:cNvSpPr/>
          <p:nvPr/>
        </p:nvSpPr>
        <p:spPr>
          <a:xfrm>
            <a:off x="7196435" y="3471862"/>
            <a:ext cx="4509789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31"/>
          <p:cNvSpPr txBox="1"/>
          <p:nvPr/>
        </p:nvSpPr>
        <p:spPr>
          <a:xfrm>
            <a:off x="485775" y="485775"/>
            <a:ext cx="117062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Schema: Authentication &amp; Roles</a:t>
            </a:r>
            <a:endParaRPr/>
          </a:p>
        </p:txBody>
      </p:sp>
      <p:sp>
        <p:nvSpPr>
          <p:cNvPr id="450" name="Google Shape;450;p31"/>
          <p:cNvSpPr/>
          <p:nvPr/>
        </p:nvSpPr>
        <p:spPr>
          <a:xfrm>
            <a:off x="485775" y="1114425"/>
            <a:ext cx="11220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05E2802-554C-2760-A111-76B650CDDE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1278534"/>
              </p:ext>
            </p:extLst>
          </p:nvPr>
        </p:nvGraphicFramePr>
        <p:xfrm>
          <a:off x="485774" y="1111756"/>
          <a:ext cx="11220448" cy="2360103"/>
        </p:xfrm>
        <a:graphic>
          <a:graphicData uri="http://schemas.openxmlformats.org/drawingml/2006/table">
            <a:tbl>
              <a:tblPr/>
              <a:tblGrid>
                <a:gridCol w="2805112">
                  <a:extLst>
                    <a:ext uri="{9D8B030D-6E8A-4147-A177-3AD203B41FA5}">
                      <a16:colId xmlns:a16="http://schemas.microsoft.com/office/drawing/2014/main" val="1291338855"/>
                    </a:ext>
                  </a:extLst>
                </a:gridCol>
                <a:gridCol w="2805112">
                  <a:extLst>
                    <a:ext uri="{9D8B030D-6E8A-4147-A177-3AD203B41FA5}">
                      <a16:colId xmlns:a16="http://schemas.microsoft.com/office/drawing/2014/main" val="1398966654"/>
                    </a:ext>
                  </a:extLst>
                </a:gridCol>
                <a:gridCol w="2805112">
                  <a:extLst>
                    <a:ext uri="{9D8B030D-6E8A-4147-A177-3AD203B41FA5}">
                      <a16:colId xmlns:a16="http://schemas.microsoft.com/office/drawing/2014/main" val="1237812712"/>
                    </a:ext>
                  </a:extLst>
                </a:gridCol>
                <a:gridCol w="2805112">
                  <a:extLst>
                    <a:ext uri="{9D8B030D-6E8A-4147-A177-3AD203B41FA5}">
                      <a16:colId xmlns:a16="http://schemas.microsoft.com/office/drawing/2014/main" val="90015115"/>
                    </a:ext>
                  </a:extLst>
                </a:gridCol>
              </a:tblGrid>
              <a:tr h="51961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solidFill>
                            <a:srgbClr val="DEFF9A"/>
                          </a:solidFill>
                          <a:effectLst/>
                        </a:rPr>
                        <a:t>Table Name</a:t>
                      </a:r>
                    </a:p>
                  </a:txBody>
                  <a:tcPr marL="104791" marR="104791" marT="104791" marB="1047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solidFill>
                            <a:srgbClr val="DEFF9A"/>
                          </a:solidFill>
                          <a:effectLst/>
                        </a:rPr>
                        <a:t>PK</a:t>
                      </a:r>
                    </a:p>
                  </a:txBody>
                  <a:tcPr marL="104791" marR="104791" marT="104791" marB="1047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solidFill>
                            <a:srgbClr val="DEFF9A"/>
                          </a:solidFill>
                          <a:effectLst/>
                        </a:rPr>
                        <a:t>Foreign Keys</a:t>
                      </a:r>
                    </a:p>
                  </a:txBody>
                  <a:tcPr marL="104791" marR="104791" marT="104791" marB="1047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solidFill>
                            <a:srgbClr val="DEFF9A"/>
                          </a:solidFill>
                          <a:effectLst/>
                        </a:rPr>
                        <a:t>Security Purpose</a:t>
                      </a:r>
                    </a:p>
                  </a:txBody>
                  <a:tcPr marL="104791" marR="104791" marT="104791" marB="1047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8406606"/>
                  </a:ext>
                </a:extLst>
              </a:tr>
              <a:tr h="4601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CCCCCC"/>
                          </a:solidFill>
                          <a:effectLst/>
                          <a:latin typeface="Courier New" panose="02070309020205020404" pitchFamily="49" charset="0"/>
                        </a:rPr>
                        <a:t>User_Roles_Security</a:t>
                      </a:r>
                      <a:endParaRPr lang="en-US" sz="1000">
                        <a:solidFill>
                          <a:srgbClr val="CCCCCC"/>
                        </a:solidFill>
                        <a:effectLst/>
                      </a:endParaRP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rgbClr val="F472B6"/>
                          </a:solidFill>
                          <a:effectLst/>
                        </a:rPr>
                        <a:t>SecRoleID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1000">
                          <a:solidFill>
                            <a:srgbClr val="CCCCCC"/>
                          </a:solidFill>
                          <a:effectLst/>
                        </a:rPr>
                        <a:t>-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CCCCCC"/>
                          </a:solidFill>
                          <a:effectLst/>
                        </a:rPr>
                        <a:t>Defines Roles (Admin, User).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4804866"/>
                  </a:ext>
                </a:extLst>
              </a:tr>
              <a:tr h="4601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CCCCCC"/>
                          </a:solidFill>
                          <a:effectLst/>
                          <a:latin typeface="Courier New" panose="02070309020205020404" pitchFamily="49" charset="0"/>
                        </a:rPr>
                        <a:t>System_Users</a:t>
                      </a:r>
                      <a:endParaRPr lang="en-US" sz="1000">
                        <a:solidFill>
                          <a:srgbClr val="CCCCCC"/>
                        </a:solidFill>
                        <a:effectLst/>
                      </a:endParaRP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rgbClr val="F472B6"/>
                          </a:solidFill>
                          <a:effectLst/>
                        </a:rPr>
                        <a:t>UserID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rgbClr val="60A5FA"/>
                          </a:solidFill>
                          <a:effectLst/>
                        </a:rPr>
                        <a:t>EmpID, RoleID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CCCCCC"/>
                          </a:solidFill>
                          <a:effectLst/>
                        </a:rPr>
                        <a:t>Credentials (Hash), Auth.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9197430"/>
                  </a:ext>
                </a:extLst>
              </a:tr>
              <a:tr h="4601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CCCCCC"/>
                          </a:solidFill>
                          <a:effectLst/>
                          <a:latin typeface="Courier New" panose="02070309020205020404" pitchFamily="49" charset="0"/>
                        </a:rPr>
                        <a:t>User_Permissions</a:t>
                      </a:r>
                      <a:endParaRPr lang="en-US" sz="1000">
                        <a:solidFill>
                          <a:srgbClr val="CCCCCC"/>
                        </a:solidFill>
                        <a:effectLst/>
                      </a:endParaRP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rgbClr val="F472B6"/>
                          </a:solidFill>
                          <a:effectLst/>
                        </a:rPr>
                        <a:t>PermID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rgbClr val="60A5FA"/>
                          </a:solidFill>
                          <a:effectLst/>
                        </a:rPr>
                        <a:t>RoleID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CCCCCC"/>
                          </a:solidFill>
                          <a:effectLst/>
                        </a:rPr>
                        <a:t>Granular Access Control.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3776263"/>
                  </a:ext>
                </a:extLst>
              </a:tr>
              <a:tr h="4601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CCCCCC"/>
                          </a:solidFill>
                          <a:effectLst/>
                          <a:latin typeface="Courier New" panose="02070309020205020404" pitchFamily="49" charset="0"/>
                        </a:rPr>
                        <a:t>Session_Tokens</a:t>
                      </a:r>
                      <a:endParaRPr lang="en-US" sz="1000">
                        <a:solidFill>
                          <a:srgbClr val="CCCCCC"/>
                        </a:solidFill>
                        <a:effectLst/>
                      </a:endParaRP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rgbClr val="F472B6"/>
                          </a:solidFill>
                          <a:effectLst/>
                        </a:rPr>
                        <a:t>SessionID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rgbClr val="60A5FA"/>
                          </a:solidFill>
                          <a:effectLst/>
                        </a:rPr>
                        <a:t>UserID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effectLst/>
                        </a:rPr>
                        <a:t>Active Session Management.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66713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5" name="Google Shape;455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32"/>
          <p:cNvSpPr/>
          <p:nvPr/>
        </p:nvSpPr>
        <p:spPr>
          <a:xfrm>
            <a:off x="485775" y="1943100"/>
            <a:ext cx="2335262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32"/>
          <p:cNvSpPr/>
          <p:nvPr/>
        </p:nvSpPr>
        <p:spPr>
          <a:xfrm>
            <a:off x="2821037" y="1943100"/>
            <a:ext cx="2026592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32"/>
          <p:cNvSpPr/>
          <p:nvPr/>
        </p:nvSpPr>
        <p:spPr>
          <a:xfrm>
            <a:off x="4847629" y="1943100"/>
            <a:ext cx="1288405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32"/>
          <p:cNvSpPr/>
          <p:nvPr/>
        </p:nvSpPr>
        <p:spPr>
          <a:xfrm>
            <a:off x="6136034" y="1943100"/>
            <a:ext cx="5570190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32"/>
          <p:cNvSpPr/>
          <p:nvPr/>
        </p:nvSpPr>
        <p:spPr>
          <a:xfrm>
            <a:off x="485775" y="2462212"/>
            <a:ext cx="2335262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32"/>
          <p:cNvSpPr/>
          <p:nvPr/>
        </p:nvSpPr>
        <p:spPr>
          <a:xfrm>
            <a:off x="2821037" y="2462212"/>
            <a:ext cx="2026592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32"/>
          <p:cNvSpPr/>
          <p:nvPr/>
        </p:nvSpPr>
        <p:spPr>
          <a:xfrm>
            <a:off x="4847629" y="2462212"/>
            <a:ext cx="1288405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32"/>
          <p:cNvSpPr/>
          <p:nvPr/>
        </p:nvSpPr>
        <p:spPr>
          <a:xfrm>
            <a:off x="6136034" y="2462212"/>
            <a:ext cx="557019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32"/>
          <p:cNvSpPr/>
          <p:nvPr/>
        </p:nvSpPr>
        <p:spPr>
          <a:xfrm>
            <a:off x="485775" y="2967037"/>
            <a:ext cx="2335262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32"/>
          <p:cNvSpPr/>
          <p:nvPr/>
        </p:nvSpPr>
        <p:spPr>
          <a:xfrm>
            <a:off x="2821037" y="2967037"/>
            <a:ext cx="2026592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32"/>
          <p:cNvSpPr/>
          <p:nvPr/>
        </p:nvSpPr>
        <p:spPr>
          <a:xfrm>
            <a:off x="4847629" y="2967037"/>
            <a:ext cx="1288405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32"/>
          <p:cNvSpPr/>
          <p:nvPr/>
        </p:nvSpPr>
        <p:spPr>
          <a:xfrm>
            <a:off x="6136034" y="2967037"/>
            <a:ext cx="557019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32"/>
          <p:cNvSpPr/>
          <p:nvPr/>
        </p:nvSpPr>
        <p:spPr>
          <a:xfrm>
            <a:off x="485775" y="3471862"/>
            <a:ext cx="2335262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32"/>
          <p:cNvSpPr/>
          <p:nvPr/>
        </p:nvSpPr>
        <p:spPr>
          <a:xfrm>
            <a:off x="2821037" y="3471862"/>
            <a:ext cx="2026592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32"/>
          <p:cNvSpPr/>
          <p:nvPr/>
        </p:nvSpPr>
        <p:spPr>
          <a:xfrm>
            <a:off x="4847629" y="3471862"/>
            <a:ext cx="1288405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32"/>
          <p:cNvSpPr/>
          <p:nvPr/>
        </p:nvSpPr>
        <p:spPr>
          <a:xfrm>
            <a:off x="6136034" y="3471862"/>
            <a:ext cx="557019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32"/>
          <p:cNvSpPr txBox="1"/>
          <p:nvPr/>
        </p:nvSpPr>
        <p:spPr>
          <a:xfrm>
            <a:off x="485775" y="485775"/>
            <a:ext cx="117062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Schema: Auditing &amp; Monitoring</a:t>
            </a:r>
            <a:endParaRPr/>
          </a:p>
        </p:txBody>
      </p:sp>
      <p:sp>
        <p:nvSpPr>
          <p:cNvPr id="474" name="Google Shape;474;p32"/>
          <p:cNvSpPr/>
          <p:nvPr/>
        </p:nvSpPr>
        <p:spPr>
          <a:xfrm>
            <a:off x="485775" y="1114425"/>
            <a:ext cx="11220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7721121-DC41-D8AE-E574-A704F597F7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2319783"/>
              </p:ext>
            </p:extLst>
          </p:nvPr>
        </p:nvGraphicFramePr>
        <p:xfrm>
          <a:off x="485774" y="1114424"/>
          <a:ext cx="11220448" cy="2357438"/>
        </p:xfrm>
        <a:graphic>
          <a:graphicData uri="http://schemas.openxmlformats.org/drawingml/2006/table">
            <a:tbl>
              <a:tblPr/>
              <a:tblGrid>
                <a:gridCol w="2805112">
                  <a:extLst>
                    <a:ext uri="{9D8B030D-6E8A-4147-A177-3AD203B41FA5}">
                      <a16:colId xmlns:a16="http://schemas.microsoft.com/office/drawing/2014/main" val="2249065733"/>
                    </a:ext>
                  </a:extLst>
                </a:gridCol>
                <a:gridCol w="2805112">
                  <a:extLst>
                    <a:ext uri="{9D8B030D-6E8A-4147-A177-3AD203B41FA5}">
                      <a16:colId xmlns:a16="http://schemas.microsoft.com/office/drawing/2014/main" val="2324926388"/>
                    </a:ext>
                  </a:extLst>
                </a:gridCol>
                <a:gridCol w="2805112">
                  <a:extLst>
                    <a:ext uri="{9D8B030D-6E8A-4147-A177-3AD203B41FA5}">
                      <a16:colId xmlns:a16="http://schemas.microsoft.com/office/drawing/2014/main" val="3382512717"/>
                    </a:ext>
                  </a:extLst>
                </a:gridCol>
                <a:gridCol w="2805112">
                  <a:extLst>
                    <a:ext uri="{9D8B030D-6E8A-4147-A177-3AD203B41FA5}">
                      <a16:colId xmlns:a16="http://schemas.microsoft.com/office/drawing/2014/main" val="1005272486"/>
                    </a:ext>
                  </a:extLst>
                </a:gridCol>
              </a:tblGrid>
              <a:tr h="47438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solidFill>
                            <a:srgbClr val="DEFF9A"/>
                          </a:solidFill>
                          <a:effectLst/>
                        </a:rPr>
                        <a:t>Table Name</a:t>
                      </a:r>
                    </a:p>
                  </a:txBody>
                  <a:tcPr marL="104791" marR="104791" marT="104791" marB="1047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solidFill>
                            <a:srgbClr val="DEFF9A"/>
                          </a:solidFill>
                          <a:effectLst/>
                        </a:rPr>
                        <a:t>PK</a:t>
                      </a:r>
                    </a:p>
                  </a:txBody>
                  <a:tcPr marL="104791" marR="104791" marT="104791" marB="1047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solidFill>
                            <a:srgbClr val="DEFF9A"/>
                          </a:solidFill>
                          <a:effectLst/>
                        </a:rPr>
                        <a:t>FKs</a:t>
                      </a:r>
                    </a:p>
                  </a:txBody>
                  <a:tcPr marL="104791" marR="104791" marT="104791" marB="1047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solidFill>
                            <a:srgbClr val="DEFF9A"/>
                          </a:solidFill>
                          <a:effectLst/>
                        </a:rPr>
                        <a:t>Description</a:t>
                      </a:r>
                    </a:p>
                  </a:txBody>
                  <a:tcPr marL="104791" marR="104791" marT="104791" marB="1047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286191"/>
                  </a:ext>
                </a:extLst>
              </a:tr>
              <a:tr h="6228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CCCCCC"/>
                          </a:solidFill>
                          <a:effectLst/>
                          <a:latin typeface="Courier New" panose="02070309020205020404" pitchFamily="49" charset="0"/>
                        </a:rPr>
                        <a:t>Audit_Logs</a:t>
                      </a:r>
                      <a:endParaRPr lang="en-US" sz="1000">
                        <a:solidFill>
                          <a:srgbClr val="CCCCCC"/>
                        </a:solidFill>
                        <a:effectLst/>
                      </a:endParaRP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rgbClr val="F472B6"/>
                          </a:solidFill>
                          <a:effectLst/>
                        </a:rPr>
                        <a:t>LogID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rgbClr val="60A5FA"/>
                          </a:solidFill>
                          <a:effectLst/>
                        </a:rPr>
                        <a:t>UserID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CCCCCC"/>
                          </a:solidFill>
                          <a:effectLst/>
                        </a:rPr>
                        <a:t>Tracks Action, TableAffected, Time.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274536"/>
                  </a:ext>
                </a:extLst>
              </a:tr>
              <a:tr h="4200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CCCCCC"/>
                          </a:solidFill>
                          <a:effectLst/>
                          <a:latin typeface="Courier New" panose="02070309020205020404" pitchFamily="49" charset="0"/>
                        </a:rPr>
                        <a:t>Failed_Logins</a:t>
                      </a:r>
                      <a:endParaRPr lang="en-US" sz="1000">
                        <a:solidFill>
                          <a:srgbClr val="CCCCCC"/>
                        </a:solidFill>
                        <a:effectLst/>
                      </a:endParaRP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rgbClr val="F472B6"/>
                          </a:solidFill>
                          <a:effectLst/>
                        </a:rPr>
                        <a:t>AttemptID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1000">
                          <a:solidFill>
                            <a:srgbClr val="CCCCCC"/>
                          </a:solidFill>
                          <a:effectLst/>
                        </a:rPr>
                        <a:t>-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CCCCCC"/>
                          </a:solidFill>
                          <a:effectLst/>
                        </a:rPr>
                        <a:t>Intrusion Detection (IP, Time).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3815898"/>
                  </a:ext>
                </a:extLst>
              </a:tr>
              <a:tr h="4200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CCCCCC"/>
                          </a:solidFill>
                          <a:effectLst/>
                          <a:latin typeface="Courier New" panose="02070309020205020404" pitchFamily="49" charset="0"/>
                        </a:rPr>
                        <a:t>Password_History</a:t>
                      </a:r>
                      <a:endParaRPr lang="en-US" sz="1000">
                        <a:solidFill>
                          <a:srgbClr val="CCCCCC"/>
                        </a:solidFill>
                        <a:effectLst/>
                      </a:endParaRP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rgbClr val="F472B6"/>
                          </a:solidFill>
                          <a:effectLst/>
                        </a:rPr>
                        <a:t>PassHistID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rgbClr val="60A5FA"/>
                          </a:solidFill>
                          <a:effectLst/>
                        </a:rPr>
                        <a:t>UserID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CCCCCC"/>
                          </a:solidFill>
                          <a:effectLst/>
                        </a:rPr>
                        <a:t>Prevents password reuse.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7148770"/>
                  </a:ext>
                </a:extLst>
              </a:tr>
              <a:tr h="4200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CCCCCC"/>
                          </a:solidFill>
                          <a:effectLst/>
                          <a:latin typeface="Courier New" panose="02070309020205020404" pitchFamily="49" charset="0"/>
                        </a:rPr>
                        <a:t>IP_Whitelist</a:t>
                      </a:r>
                      <a:endParaRPr lang="en-US" sz="1000">
                        <a:solidFill>
                          <a:srgbClr val="CCCCCC"/>
                        </a:solidFill>
                        <a:effectLst/>
                      </a:endParaRP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rgbClr val="F472B6"/>
                          </a:solidFill>
                          <a:effectLst/>
                        </a:rPr>
                        <a:t>WhitelistID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1000">
                          <a:solidFill>
                            <a:srgbClr val="CCCCCC"/>
                          </a:solidFill>
                          <a:effectLst/>
                        </a:rPr>
                        <a:t>-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effectLst/>
                        </a:rPr>
                        <a:t>Network Access Control.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838144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9" name="Google Shape;479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3"/>
          <p:cNvSpPr txBox="1"/>
          <p:nvPr/>
        </p:nvSpPr>
        <p:spPr>
          <a:xfrm>
            <a:off x="485775" y="2671762"/>
            <a:ext cx="112204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Feedback:</a:t>
            </a: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Collects Ratings (1-5) &amp; Comments.</a:t>
            </a:r>
            <a:endParaRPr/>
          </a:p>
        </p:txBody>
      </p:sp>
      <p:sp>
        <p:nvSpPr>
          <p:cNvPr id="482" name="Google Shape;482;p33"/>
          <p:cNvSpPr txBox="1"/>
          <p:nvPr/>
        </p:nvSpPr>
        <p:spPr>
          <a:xfrm>
            <a:off x="485775" y="3100387"/>
            <a:ext cx="112204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Promotions:</a:t>
            </a: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Manages Discount Codes and Date Ranges.</a:t>
            </a:r>
            <a:endParaRPr/>
          </a:p>
        </p:txBody>
      </p:sp>
      <p:pic>
        <p:nvPicPr>
          <p:cNvPr id="483" name="Google Shape;483;p3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5775" y="3529012"/>
            <a:ext cx="112204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3"/>
          <p:cNvSpPr/>
          <p:nvPr/>
        </p:nvSpPr>
        <p:spPr>
          <a:xfrm>
            <a:off x="485775" y="1452562"/>
            <a:ext cx="5156001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33"/>
          <p:cNvSpPr/>
          <p:nvPr/>
        </p:nvSpPr>
        <p:spPr>
          <a:xfrm>
            <a:off x="5641776" y="1452562"/>
            <a:ext cx="3437334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33"/>
          <p:cNvSpPr/>
          <p:nvPr/>
        </p:nvSpPr>
        <p:spPr>
          <a:xfrm>
            <a:off x="9079110" y="1452562"/>
            <a:ext cx="2627114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33"/>
          <p:cNvSpPr/>
          <p:nvPr/>
        </p:nvSpPr>
        <p:spPr>
          <a:xfrm>
            <a:off x="485775" y="1971675"/>
            <a:ext cx="5156001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33"/>
          <p:cNvSpPr/>
          <p:nvPr/>
        </p:nvSpPr>
        <p:spPr>
          <a:xfrm>
            <a:off x="5641776" y="1971675"/>
            <a:ext cx="3437334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33"/>
          <p:cNvSpPr/>
          <p:nvPr/>
        </p:nvSpPr>
        <p:spPr>
          <a:xfrm>
            <a:off x="9079110" y="1971675"/>
            <a:ext cx="2627114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33"/>
          <p:cNvSpPr txBox="1"/>
          <p:nvPr/>
        </p:nvSpPr>
        <p:spPr>
          <a:xfrm>
            <a:off x="485775" y="-4762"/>
            <a:ext cx="117062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Module 7: Marketing Schema</a:t>
            </a:r>
            <a:endParaRPr dirty="0"/>
          </a:p>
        </p:txBody>
      </p:sp>
      <p:sp>
        <p:nvSpPr>
          <p:cNvPr id="491" name="Google Shape;491;p33"/>
          <p:cNvSpPr/>
          <p:nvPr/>
        </p:nvSpPr>
        <p:spPr>
          <a:xfrm>
            <a:off x="485775" y="623887"/>
            <a:ext cx="11220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AF77AE1-EC30-FA9C-3431-CADAA0384E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02658"/>
              </p:ext>
            </p:extLst>
          </p:nvPr>
        </p:nvGraphicFramePr>
        <p:xfrm>
          <a:off x="485774" y="600441"/>
          <a:ext cx="11220450" cy="1366472"/>
        </p:xfrm>
        <a:graphic>
          <a:graphicData uri="http://schemas.openxmlformats.org/drawingml/2006/table">
            <a:tbl>
              <a:tblPr/>
              <a:tblGrid>
                <a:gridCol w="3740150">
                  <a:extLst>
                    <a:ext uri="{9D8B030D-6E8A-4147-A177-3AD203B41FA5}">
                      <a16:colId xmlns:a16="http://schemas.microsoft.com/office/drawing/2014/main" val="1325214"/>
                    </a:ext>
                  </a:extLst>
                </a:gridCol>
                <a:gridCol w="3740150">
                  <a:extLst>
                    <a:ext uri="{9D8B030D-6E8A-4147-A177-3AD203B41FA5}">
                      <a16:colId xmlns:a16="http://schemas.microsoft.com/office/drawing/2014/main" val="3193412586"/>
                    </a:ext>
                  </a:extLst>
                </a:gridCol>
                <a:gridCol w="3740150">
                  <a:extLst>
                    <a:ext uri="{9D8B030D-6E8A-4147-A177-3AD203B41FA5}">
                      <a16:colId xmlns:a16="http://schemas.microsoft.com/office/drawing/2014/main" val="716716685"/>
                    </a:ext>
                  </a:extLst>
                </a:gridCol>
              </a:tblGrid>
              <a:tr h="49313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solidFill>
                            <a:srgbClr val="DEFF9A"/>
                          </a:solidFill>
                          <a:effectLst/>
                        </a:rPr>
                        <a:t>Table Name</a:t>
                      </a:r>
                    </a:p>
                  </a:txBody>
                  <a:tcPr marL="104791" marR="104791" marT="104791" marB="1047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solidFill>
                            <a:srgbClr val="DEFF9A"/>
                          </a:solidFill>
                          <a:effectLst/>
                        </a:rPr>
                        <a:t>PK</a:t>
                      </a:r>
                    </a:p>
                  </a:txBody>
                  <a:tcPr marL="104791" marR="104791" marT="104791" marB="1047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solidFill>
                            <a:srgbClr val="DEFF9A"/>
                          </a:solidFill>
                          <a:effectLst/>
                        </a:rPr>
                        <a:t>FKs</a:t>
                      </a:r>
                    </a:p>
                  </a:txBody>
                  <a:tcPr marL="104791" marR="104791" marT="104791" marB="1047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3384258"/>
                  </a:ext>
                </a:extLst>
              </a:tr>
              <a:tr h="4366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CCCCCC"/>
                          </a:solidFill>
                          <a:effectLst/>
                          <a:latin typeface="Courier New" panose="02070309020205020404" pitchFamily="49" charset="0"/>
                        </a:rPr>
                        <a:t>Guest_Feedback</a:t>
                      </a:r>
                      <a:endParaRPr lang="en-US" sz="1000">
                        <a:solidFill>
                          <a:srgbClr val="CCCCCC"/>
                        </a:solidFill>
                        <a:effectLst/>
                      </a:endParaRP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rgbClr val="F472B6"/>
                          </a:solidFill>
                          <a:effectLst/>
                        </a:rPr>
                        <a:t>FeedbackID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rgbClr val="60A5FA"/>
                          </a:solidFill>
                          <a:effectLst/>
                        </a:rPr>
                        <a:t>GuestID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2848079"/>
                  </a:ext>
                </a:extLst>
              </a:tr>
              <a:tr h="4366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CCCCCC"/>
                          </a:solidFill>
                          <a:effectLst/>
                          <a:latin typeface="Courier New" panose="02070309020205020404" pitchFamily="49" charset="0"/>
                        </a:rPr>
                        <a:t>Promotions_Marketing</a:t>
                      </a:r>
                      <a:endParaRPr lang="en-US" sz="1000">
                        <a:solidFill>
                          <a:srgbClr val="CCCCCC"/>
                        </a:solidFill>
                        <a:effectLst/>
                      </a:endParaRP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rgbClr val="F472B6"/>
                          </a:solidFill>
                          <a:effectLst/>
                        </a:rPr>
                        <a:t>PromoID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sz="1000" dirty="0">
                          <a:solidFill>
                            <a:srgbClr val="CCCCCC"/>
                          </a:solidFill>
                          <a:effectLst/>
                        </a:rPr>
                        <a:t>-</a:t>
                      </a:r>
                    </a:p>
                  </a:txBody>
                  <a:tcPr marL="104791" marR="104791" marT="83833" marB="8383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959009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6" name="Google Shape;496;p3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34"/>
          <p:cNvSpPr txBox="1"/>
          <p:nvPr/>
        </p:nvSpPr>
        <p:spPr>
          <a:xfrm>
            <a:off x="242887" y="2071687"/>
            <a:ext cx="117062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Questions?</a:t>
            </a:r>
            <a:endParaRPr/>
          </a:p>
        </p:txBody>
      </p:sp>
      <p:sp>
        <p:nvSpPr>
          <p:cNvPr id="498" name="Google Shape;498;p34"/>
          <p:cNvSpPr txBox="1"/>
          <p:nvPr/>
        </p:nvSpPr>
        <p:spPr>
          <a:xfrm>
            <a:off x="485775" y="3405187"/>
            <a:ext cx="112204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EFF9A"/>
                </a:solidFill>
                <a:latin typeface="JetBrains Mono Light"/>
                <a:ea typeface="JetBrains Mono Light"/>
                <a:cs typeface="JetBrains Mono Light"/>
                <a:sym typeface="JetBrains Mono Light"/>
              </a:rPr>
              <a:t>Detailed Schema Review Complete</a:t>
            </a:r>
            <a:endParaRPr/>
          </a:p>
        </p:txBody>
      </p:sp>
      <p:sp>
        <p:nvSpPr>
          <p:cNvPr id="499" name="Google Shape;499;p34"/>
          <p:cNvSpPr txBox="1"/>
          <p:nvPr/>
        </p:nvSpPr>
        <p:spPr>
          <a:xfrm>
            <a:off x="485775" y="4357687"/>
            <a:ext cx="112204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Grand Pearl Hotel Database Architecture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1097</Words>
  <Application>Microsoft Office PowerPoint</Application>
  <PresentationFormat>Widescreen</PresentationFormat>
  <Paragraphs>315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JetBrains Mono Light</vt:lpstr>
      <vt:lpstr>Courier New</vt:lpstr>
      <vt:lpstr>Calibri</vt:lpstr>
      <vt:lpstr>Urbanist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thinkcenter51@outlook.com</cp:lastModifiedBy>
  <cp:revision>1</cp:revision>
  <dcterms:modified xsi:type="dcterms:W3CDTF">2026-01-08T18:04:52Z</dcterms:modified>
</cp:coreProperties>
</file>